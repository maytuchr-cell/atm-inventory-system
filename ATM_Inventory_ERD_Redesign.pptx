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7772400" cy="9144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Database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1828800"/>
            <a:ext cx="777240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800" b="0" i="0">
                <a:solidFill>
                  <a:srgbClr val="B0C8E8"/>
                </a:solidFill>
                <a:latin typeface="Calibri"/>
              </a:rPr>
              <a:t>แยก "ตัวอะไหล่" ออกจาก "อะไหล่ในคลัง"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2514600"/>
            <a:ext cx="6675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651760"/>
            <a:ext cx="7680960" cy="3657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 i="0">
                <a:solidFill>
                  <a:srgbClr val="90AED8"/>
                </a:solidFill>
                <a:latin typeface="Calibri"/>
              </a:rPr>
              <a:t>Part (Master)  ·  PartStock (Balance)  ·  PartUnit (Serial)  ·  StockMovement (Ledger)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310128"/>
            <a:ext cx="73152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ATM Inventory System  |  DataOne Asia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สารบัญ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04672"/>
            <a:ext cx="822960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Table of 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51560"/>
            <a:ext cx="41148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73152" cy="62179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" y="1170431"/>
            <a:ext cx="420624" cy="384048"/>
          </a:xfrm>
          <a:prstGeom prst="round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170431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124712"/>
            <a:ext cx="3291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1E2D40"/>
                </a:solidFill>
                <a:latin typeface="Calibri"/>
              </a:rPr>
              <a:t>System Architecture — ภาพรวมทั้งระบบ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389888"/>
            <a:ext cx="329184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Browser · Frontend · API · 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783080"/>
            <a:ext cx="41148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783080"/>
            <a:ext cx="73152" cy="6217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6072" y="1901952"/>
            <a:ext cx="420624" cy="38404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1901952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1856231"/>
            <a:ext cx="3291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1E2D40"/>
                </a:solidFill>
                <a:latin typeface="Calibri"/>
              </a:rPr>
              <a:t>ปัญหา — ทำไมตาราง Part เดิมทำให้ทีมงง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2121408"/>
            <a:ext cx="329184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ปนกัน 3 ความหมายในตารางเดียว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514600"/>
            <a:ext cx="41148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514600"/>
            <a:ext cx="73152" cy="6217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" y="2633472"/>
            <a:ext cx="420624" cy="38404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633472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2587752"/>
            <a:ext cx="3291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1E2D40"/>
                </a:solidFill>
                <a:latin typeface="Calibri"/>
              </a:rPr>
              <a:t>แนวคิดใหม่ — แยกเป็น 3 ชั้น + 1 ประวัติ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2852928"/>
            <a:ext cx="329184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แต่ละตารางมีหน้าที่เดียว ชัดเจน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246120"/>
            <a:ext cx="41148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246120"/>
            <a:ext cx="73152" cy="621792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6072" y="3364992"/>
            <a:ext cx="420624" cy="384048"/>
          </a:xfrm>
          <a:prstGeom prst="round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3364992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" y="3319272"/>
            <a:ext cx="3291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1E2D40"/>
                </a:solidFill>
                <a:latin typeface="Calibri"/>
              </a:rPr>
              <a:t>ERD — แผนภาพความสัมพันธ์ทั้งหมด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" y="3584448"/>
            <a:ext cx="329184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กล่อง = ตาราง · เส้น = ความสัมพันธ์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977639"/>
            <a:ext cx="41148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3977639"/>
            <a:ext cx="73152" cy="6217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76072" y="4096511"/>
            <a:ext cx="420624" cy="38404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4096511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" y="4050791"/>
            <a:ext cx="3291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1E2D40"/>
                </a:solidFill>
                <a:latin typeface="Calibri"/>
              </a:rPr>
              <a:t>Part — ตัวอะไหล่ (Master / Catalog)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" y="4315968"/>
            <a:ext cx="329184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นิยามของอะไหล่ — คืออะไร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20" y="1051560"/>
            <a:ext cx="41148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17720" y="1051560"/>
            <a:ext cx="73152" cy="6217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782312" y="1170431"/>
            <a:ext cx="420624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82312" y="1170431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0952" y="1124712"/>
            <a:ext cx="3291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1E2D40"/>
                </a:solidFill>
                <a:latin typeface="Calibri"/>
              </a:rPr>
              <a:t>PartStock — จำนวนในคลัง (Balance)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0952" y="1389888"/>
            <a:ext cx="329184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ยอดคงเหลือแยกคลัง ดี/เสีย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17720" y="1783080"/>
            <a:ext cx="41148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17720" y="1783080"/>
            <a:ext cx="73152" cy="6217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82312" y="1901952"/>
            <a:ext cx="420624" cy="384048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82312" y="1901952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30952" y="1856231"/>
            <a:ext cx="3291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1E2D40"/>
                </a:solidFill>
                <a:latin typeface="Calibri"/>
              </a:rPr>
              <a:t>PartUnit — ชิ้นเฉพาะตัว (Serial)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0952" y="2121408"/>
            <a:ext cx="329184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track รายชิ้น (ทางเลือก)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17720" y="2514600"/>
            <a:ext cx="41148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17720" y="2514600"/>
            <a:ext cx="73152" cy="6217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782312" y="2633472"/>
            <a:ext cx="420624" cy="38404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82312" y="2633472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0952" y="2587752"/>
            <a:ext cx="3291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1E2D40"/>
                </a:solidFill>
                <a:latin typeface="Calibri"/>
              </a:rPr>
              <a:t>StockMovement — ประวัติการเคลื่อนไหว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30952" y="2852928"/>
            <a:ext cx="329184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Ledger ทุกการขยับของ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17720" y="3246120"/>
            <a:ext cx="41148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17720" y="3246120"/>
            <a:ext cx="73152" cy="6217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782312" y="3364992"/>
            <a:ext cx="420624" cy="38404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82312" y="3364992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30952" y="3319272"/>
            <a:ext cx="3291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1E2D40"/>
                </a:solidFill>
                <a:latin typeface="Calibri"/>
              </a:rPr>
              <a:t>Before → After — ฟิลด์ไหนย้ายไปไหน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0952" y="3584448"/>
            <a:ext cx="329184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สรุปการเปลี่ยนแปลง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17720" y="3977639"/>
            <a:ext cx="41148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617720" y="3977639"/>
            <a:ext cx="73152" cy="621792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782312" y="4096511"/>
            <a:ext cx="420624" cy="384048"/>
          </a:xfrm>
          <a:prstGeom prst="round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82312" y="4096511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30952" y="4050791"/>
            <a:ext cx="3291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1E2D40"/>
                </a:solidFill>
                <a:latin typeface="Calibri"/>
              </a:rPr>
              <a:t>ความสัมพันธ์ &amp; แผนย้ายข้อมูล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30952" y="4315968"/>
            <a:ext cx="329184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3 ขั้นแบบไม่เสียข้อมูล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System Architecture — ภาพรวมทั้งระบบ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96112"/>
            <a:ext cx="8595360" cy="548640"/>
          </a:xfrm>
          <a:prstGeom prst="roundRect">
            <a:avLst/>
          </a:prstGeom>
          <a:solidFill>
            <a:srgbClr val="EEF1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32688"/>
            <a:ext cx="137160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ผู้ใช้งาน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987552"/>
            <a:ext cx="192024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C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987552"/>
            <a:ext cx="1828800" cy="365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1C3557"/>
                </a:solidFill>
                <a:latin typeface="Calibri"/>
              </a:rPr>
              <a:t>👤  Admin (Browser)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987552"/>
            <a:ext cx="192024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C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987552"/>
            <a:ext cx="1828800" cy="365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1C3557"/>
                </a:solidFill>
                <a:latin typeface="Calibri"/>
              </a:rPr>
              <a:t>🔧  Technician (Browser)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34840" y="1481328"/>
            <a:ext cx="292608" cy="310896"/>
          </a:xfrm>
          <a:prstGeom prst="down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517904"/>
            <a:ext cx="2011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059669"/>
                </a:solidFill>
                <a:latin typeface="Calibri"/>
              </a:rPr>
              <a:t>เปิดหน้าเว็บ (HTTP)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1847088"/>
            <a:ext cx="8595360" cy="603504"/>
          </a:xfrm>
          <a:prstGeom prst="roundRect">
            <a:avLst/>
          </a:prstGeom>
          <a:solidFill>
            <a:srgbClr val="EEF3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883664"/>
            <a:ext cx="59436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Calibri"/>
              </a:rPr>
              <a:t>Frontend  —  Static Web  (IIS ภายในองค์กร / dev: http.server :3000)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157984"/>
            <a:ext cx="822959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57984"/>
            <a:ext cx="731519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  <a:latin typeface="Calibri"/>
              </a:rPr>
              <a:t>login.html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44168" y="2157984"/>
            <a:ext cx="888796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9888" y="2157984"/>
            <a:ext cx="797356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  <a:latin typeface="Calibri"/>
              </a:rPr>
              <a:t>admin*.html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42692" y="2157984"/>
            <a:ext cx="757123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88412" y="2157984"/>
            <a:ext cx="665683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  <a:latin typeface="Calibri"/>
              </a:rPr>
              <a:t>tech.html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9544" y="2157984"/>
            <a:ext cx="102047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5264" y="2157984"/>
            <a:ext cx="92903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  <a:latin typeface="Calibri"/>
              </a:rPr>
              <a:t>shared/api.js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9742" y="2157984"/>
            <a:ext cx="1152143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5462" y="2157984"/>
            <a:ext cx="1060703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  <a:latin typeface="Calibri"/>
              </a:rPr>
              <a:t>translations.js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1614" y="2157984"/>
            <a:ext cx="148132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47334" y="2157984"/>
            <a:ext cx="1389887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  <a:latin typeface="Calibri"/>
              </a:rPr>
              <a:t>styles.css · DM Sans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4434840" y="2505456"/>
            <a:ext cx="292608" cy="310896"/>
          </a:xfrm>
          <a:prstGeom prst="downArrow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542032"/>
            <a:ext cx="365760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D85A30"/>
                </a:solidFill>
                <a:latin typeface="Calibri"/>
              </a:rPr>
              <a:t>fetch + JWT Bearer token  (Authorization header)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2889504"/>
            <a:ext cx="8595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926080"/>
            <a:ext cx="64008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1C3557"/>
                </a:solidFill>
                <a:latin typeface="Calibri"/>
              </a:rPr>
              <a:t>Backend API  —  ASP.NET Core (.NET 10)  ·  http://...:5128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218688"/>
            <a:ext cx="109728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Controllers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17320" y="3200400"/>
            <a:ext cx="387705" cy="219456"/>
          </a:xfrm>
          <a:prstGeom prst="roundRect">
            <a:avLst/>
          </a:prstGeom>
          <a:solidFill>
            <a:srgbClr val="ECF7F1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3200400"/>
            <a:ext cx="296265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Auth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78177" y="3200400"/>
            <a:ext cx="448056" cy="219456"/>
          </a:xfrm>
          <a:prstGeom prst="roundRect">
            <a:avLst/>
          </a:prstGeom>
          <a:solidFill>
            <a:srgbClr val="ECF7F1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3897" y="3200400"/>
            <a:ext cx="356616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Parts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99385" y="3200400"/>
            <a:ext cx="749808" cy="219456"/>
          </a:xfrm>
          <a:prstGeom prst="roundRect">
            <a:avLst/>
          </a:prstGeom>
          <a:solidFill>
            <a:srgbClr val="ECF7F1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45105" y="3200400"/>
            <a:ext cx="658368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Categories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22345" y="3200400"/>
            <a:ext cx="870508" cy="219456"/>
          </a:xfrm>
          <a:prstGeom prst="roundRect">
            <a:avLst/>
          </a:prstGeom>
          <a:solidFill>
            <a:srgbClr val="ECF7F1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68065" y="3200400"/>
            <a:ext cx="779068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GoodsReceipt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6006" y="3200400"/>
            <a:ext cx="568756" cy="219456"/>
          </a:xfrm>
          <a:prstGeom prst="roundRect">
            <a:avLst/>
          </a:prstGeom>
          <a:solidFill>
            <a:srgbClr val="ECF7F1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11726" y="3200400"/>
            <a:ext cx="477316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Tickets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07915" y="3200400"/>
            <a:ext cx="568756" cy="219456"/>
          </a:xfrm>
          <a:prstGeom prst="roundRect">
            <a:avLst/>
          </a:prstGeom>
          <a:solidFill>
            <a:srgbClr val="ECF7F1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53635" y="3200400"/>
            <a:ext cx="477316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Returns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49824" y="3200400"/>
            <a:ext cx="689457" cy="219456"/>
          </a:xfrm>
          <a:prstGeom prst="roundRect">
            <a:avLst/>
          </a:prstGeom>
          <a:solidFill>
            <a:srgbClr val="ECF7F1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3200400"/>
            <a:ext cx="598017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Transfers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2433" y="3200400"/>
            <a:ext cx="749808" cy="219456"/>
          </a:xfrm>
          <a:prstGeom prst="roundRect">
            <a:avLst/>
          </a:prstGeom>
          <a:solidFill>
            <a:srgbClr val="ECF7F1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58153" y="3200400"/>
            <a:ext cx="658368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StockCount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35393" y="3200400"/>
            <a:ext cx="629107" cy="219456"/>
          </a:xfrm>
          <a:prstGeom prst="roundRect">
            <a:avLst/>
          </a:prstGeom>
          <a:solidFill>
            <a:srgbClr val="ECF7F1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81113" y="3200400"/>
            <a:ext cx="537667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Disposal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37652" y="3200400"/>
            <a:ext cx="689457" cy="219456"/>
          </a:xfrm>
          <a:prstGeom prst="roundRect">
            <a:avLst/>
          </a:prstGeom>
          <a:solidFill>
            <a:srgbClr val="ECF7F1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83372" y="3200400"/>
            <a:ext cx="598017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Dashboard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00262" y="3200400"/>
            <a:ext cx="568756" cy="219456"/>
          </a:xfrm>
          <a:prstGeom prst="roundRect">
            <a:avLst/>
          </a:prstGeom>
          <a:solidFill>
            <a:srgbClr val="ECF7F1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5982" y="3200400"/>
            <a:ext cx="477316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Reports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3511296"/>
            <a:ext cx="109728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Services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17320" y="3493008"/>
            <a:ext cx="1234440" cy="219456"/>
          </a:xfrm>
          <a:prstGeom prst="roundRect">
            <a:avLst/>
          </a:prstGeom>
          <a:solidFill>
            <a:srgbClr val="F0EFFA"/>
          </a:solidFill>
          <a:ln w="952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63040" y="3493008"/>
            <a:ext cx="1143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534AB7"/>
                </a:solidFill>
                <a:latin typeface="Calibri"/>
              </a:rPr>
              <a:t>JwtHelper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43200" y="3493008"/>
            <a:ext cx="1234440" cy="219456"/>
          </a:xfrm>
          <a:prstGeom prst="roundRect">
            <a:avLst/>
          </a:prstGeom>
          <a:solidFill>
            <a:srgbClr val="F0EFFA"/>
          </a:solidFill>
          <a:ln w="952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88920" y="3493008"/>
            <a:ext cx="1143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534AB7"/>
                </a:solidFill>
                <a:latin typeface="Calibri"/>
              </a:rPr>
              <a:t>PasswordHasher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69080" y="3493008"/>
            <a:ext cx="1234440" cy="219456"/>
          </a:xfrm>
          <a:prstGeom prst="roundRect">
            <a:avLst/>
          </a:prstGeom>
          <a:solidFill>
            <a:srgbClr val="F0EFFA"/>
          </a:solidFill>
          <a:ln w="952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0" y="3493008"/>
            <a:ext cx="1143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534AB7"/>
                </a:solidFill>
                <a:latin typeface="Calibri"/>
              </a:rPr>
              <a:t>StockService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32120" y="3511296"/>
            <a:ext cx="109728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Data Access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3493008"/>
            <a:ext cx="2377440" cy="219456"/>
          </a:xfrm>
          <a:prstGeom prst="roundRect">
            <a:avLst/>
          </a:prstGeom>
          <a:solidFill>
            <a:srgbClr val="FBF1E7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3493008"/>
            <a:ext cx="2286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Calibri"/>
              </a:rPr>
              <a:t>EF Core  ·  AppDbContext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3749039"/>
            <a:ext cx="8321040" cy="164592"/>
          </a:xfrm>
          <a:prstGeom prst="rect">
            <a:avLst/>
          </a:prstGeom>
          <a:solidFill>
            <a:srgbClr val="FB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3749039"/>
            <a:ext cx="82296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50" b="0" i="0">
                <a:solidFill>
                  <a:srgbClr val="D85A30"/>
                </a:solidFill>
                <a:latin typeface="Calibri"/>
              </a:rPr>
              <a:t>🔐  ทุก endpoint เขียนข้อมูล (master data) ต้องมี JWT + Role = Admin  ·  PBKDF2 hash รหัสผ่าน</a:t>
            </a:r>
          </a:p>
        </p:txBody>
      </p:sp>
      <p:sp>
        <p:nvSpPr>
          <p:cNvPr id="66" name="Down Arrow 65"/>
          <p:cNvSpPr/>
          <p:nvPr/>
        </p:nvSpPr>
        <p:spPr>
          <a:xfrm>
            <a:off x="2468880" y="4023360"/>
            <a:ext cx="292608" cy="310896"/>
          </a:xfrm>
          <a:prstGeom prst="down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88920" y="4059936"/>
            <a:ext cx="18288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0D9488"/>
                </a:solidFill>
                <a:latin typeface="Calibri"/>
              </a:rPr>
              <a:t>อ่าน/เขียนข้อมูล</a:t>
            </a:r>
          </a:p>
        </p:txBody>
      </p:sp>
      <p:sp>
        <p:nvSpPr>
          <p:cNvPr id="68" name="Down Arrow 67"/>
          <p:cNvSpPr/>
          <p:nvPr/>
        </p:nvSpPr>
        <p:spPr>
          <a:xfrm>
            <a:off x="6492240" y="4023360"/>
            <a:ext cx="292608" cy="310896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12280" y="4059936"/>
            <a:ext cx="201168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serve รูป /assets/*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4320" y="4389120"/>
            <a:ext cx="4160520" cy="603504"/>
          </a:xfrm>
          <a:prstGeom prst="roundRect">
            <a:avLst/>
          </a:prstGeom>
          <a:solidFill>
            <a:srgbClr val="E9F6F4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4416552"/>
            <a:ext cx="274320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Calibri"/>
              </a:rPr>
              <a:t>🗄  Database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4645152"/>
            <a:ext cx="393192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alibri"/>
              </a:rPr>
              <a:t>SQLite (AtmInventory.db) ปัจจุบัน  →  MySQL (production)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709160" y="4389120"/>
            <a:ext cx="4160520" cy="603504"/>
          </a:xfrm>
          <a:prstGeom prst="roundRect">
            <a:avLst/>
          </a:prstGeom>
          <a:solidFill>
            <a:srgbClr val="F1F2F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46320" y="4416552"/>
            <a:ext cx="365760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6B7280"/>
                </a:solidFill>
                <a:latin typeface="Calibri"/>
              </a:rPr>
              <a:t>🖼  Asset Storage (นอก repo)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46320" y="4645152"/>
            <a:ext cx="393192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alibri"/>
              </a:rPr>
              <a:t>D:\ATMAssets\parts\  (529 รูป)  →  serve ที่ /assets/parts/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ปัญหา — ทำไมทีมดูตาราง Part แล้วงง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04672"/>
            <a:ext cx="822960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ตาราง Part เดิม ปนกัน 3 ความหมายในตารางเดียว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60120"/>
            <a:ext cx="4206240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384048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ตาราง Part เดิม (ปนกัน)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44752"/>
            <a:ext cx="128016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233172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PartNo, PartName, Category, ImagePath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417320"/>
            <a:ext cx="137160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ตัวอะไหล่ (คืออะไร)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47672"/>
            <a:ext cx="128016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233172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MinStock, MaxStock, ReorderPoint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920240"/>
            <a:ext cx="137160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นโยบายของอะไหล่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50592"/>
            <a:ext cx="128016" cy="3840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423160"/>
            <a:ext cx="233172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StockQuantity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423160"/>
            <a:ext cx="137160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จำนวนในคลัง (เลขเดียว!)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53512"/>
            <a:ext cx="128016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926080"/>
            <a:ext cx="233172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SerialNo, ExpiryDate, IsUnrepairable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926080"/>
            <a:ext cx="137160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ชิ้นเฉพาะตัว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56432"/>
            <a:ext cx="128016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29000"/>
            <a:ext cx="233172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429000"/>
            <a:ext cx="137160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ชิ้นเฉพาะตัว (คำนวณได้)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59352"/>
            <a:ext cx="128016" cy="38404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31920"/>
            <a:ext cx="233172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OrderNumber, TrackingNumber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3931920"/>
            <a:ext cx="137160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ข้อมูลตอนรับเข้า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960120"/>
            <a:ext cx="4206240" cy="3566160"/>
          </a:xfrm>
          <a:prstGeom prst="roundRect">
            <a:avLst/>
          </a:prstGeom>
          <a:solidFill>
            <a:srgbClr val="FDECEC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1051560"/>
            <a:ext cx="384048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ผลที่ตามมา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1463040"/>
            <a:ext cx="274320" cy="6400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8928" y="1463040"/>
            <a:ext cx="3611880" cy="6400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StockQuantity เป็นเลขเดียว → ของอยู่หลายคลัง
   (DHL, ราชบูรณะ, ช่างถือ) ตอบไม่ได้ว่าอยู่ไหน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2212848"/>
            <a:ext cx="274320" cy="6400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2212848"/>
            <a:ext cx="3611880" cy="6400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SerialNo อยู่บน Part → 1 รุ่นมีหลายชิ้น
   หลายซีเรียล แต่ใส่ได้ค่าเดียว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962656"/>
            <a:ext cx="274320" cy="6400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8928" y="2962656"/>
            <a:ext cx="3611880" cy="6400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ExpiryDate อยู่บน Part → คนละ lot
   หมดอายุไม่พร้อมกัน เก็บค่าเดียวผิด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712463"/>
            <a:ext cx="274320" cy="6400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8" y="3712463"/>
            <a:ext cx="3611880" cy="6400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ทีมอ่านแล้วงง: ตกลงแถวนี้คือ "ชนิดอะไหล่"
   หรือ "ของจริง 1 ชิ้น"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แนวคิดใหม่ — แยกเป็น 3 ชั้น + 1 ประวัติ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04672"/>
            <a:ext cx="822960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แต่ละตารางมีหน้าที่เดียว ชัดเจน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60120"/>
            <a:ext cx="2121408" cy="3200400"/>
          </a:xfrm>
          <a:prstGeom prst="roundRect">
            <a:avLst/>
          </a:prstGeom>
          <a:solidFill>
            <a:srgbClr val="EEF3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960120"/>
            <a:ext cx="2121408" cy="32918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24712"/>
            <a:ext cx="2121408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78408"/>
            <a:ext cx="1938527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44168"/>
            <a:ext cx="1938527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ตัวอะไหล่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563624"/>
            <a:ext cx="1938527" cy="3657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1 แถว = 1 รหัสอะไหล่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1911095"/>
            <a:ext cx="1892807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คืออะไร ชื่อ หมวด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2125979"/>
            <a:ext cx="1892807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รูป ต้นทุน หน่วย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2340863"/>
            <a:ext cx="1892807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min/max/reorder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2555747"/>
            <a:ext cx="1892807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ไม่มีจำนวน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2770631"/>
            <a:ext cx="1892807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ไม่มีซีเรียล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2032" y="960120"/>
            <a:ext cx="2121408" cy="3200400"/>
          </a:xfrm>
          <a:prstGeom prst="roundRect">
            <a:avLst/>
          </a:prstGeom>
          <a:solidFill>
            <a:srgbClr val="E9F6F4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42032" y="96012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42032" y="1124712"/>
            <a:ext cx="2121408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978408"/>
            <a:ext cx="1938527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PartStock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1344168"/>
            <a:ext cx="1938527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จำนวนในคลัง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1563624"/>
            <a:ext cx="1938527" cy="3657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1 แถว = อะไหล่ x คลัง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1911095"/>
            <a:ext cx="1892807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GoodQty (ดี)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2125979"/>
            <a:ext cx="1892807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DefectiveQty (เสีย)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2340863"/>
            <a:ext cx="1892807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ผูก Part + Location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0048" y="2555747"/>
            <a:ext cx="1892807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UNIQUE(Part,Loc)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0048" y="2770631"/>
            <a:ext cx="1892807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ยอดคงเหลือจริง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09744" y="960120"/>
            <a:ext cx="2121408" cy="3200400"/>
          </a:xfrm>
          <a:prstGeom prst="roundRect">
            <a:avLst/>
          </a:prstGeom>
          <a:solidFill>
            <a:srgbClr val="FBF1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09744" y="960120"/>
            <a:ext cx="2121408" cy="329184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09744" y="1124712"/>
            <a:ext cx="2121408" cy="1645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978408"/>
            <a:ext cx="1938527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PartUnit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2" y="1344168"/>
            <a:ext cx="1938527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B45309"/>
                </a:solidFill>
                <a:latin typeface="Calibri"/>
              </a:rPr>
              <a:t>ชิ้นเฉพาะตัว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9472" y="1563624"/>
            <a:ext cx="1938527" cy="3657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1 แถว = 1 ชิ้นจริง (option)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59" y="1911095"/>
            <a:ext cx="1892807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SerialNo (unique)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9" y="2125979"/>
            <a:ext cx="1892807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ExpiryDate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59" y="2340863"/>
            <a:ext cx="1892807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IsUnrepairable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59" y="2555747"/>
            <a:ext cx="1892807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Condition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59" y="2770631"/>
            <a:ext cx="1892807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เฉพาะของ track serial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7456" y="960120"/>
            <a:ext cx="1792224" cy="3200400"/>
          </a:xfrm>
          <a:prstGeom prst="roundRect">
            <a:avLst/>
          </a:prstGeom>
          <a:solidFill>
            <a:srgbClr val="F1F2F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077456" y="960120"/>
            <a:ext cx="1792224" cy="329184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77456" y="1124712"/>
            <a:ext cx="1792224" cy="1645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87184" y="978408"/>
            <a:ext cx="160934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StockMovement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87184" y="1344168"/>
            <a:ext cx="1609344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ประวัติ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87184" y="1563624"/>
            <a:ext cx="1609344" cy="3657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1 แถว = 1 การขยับ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5472" y="1911095"/>
            <a:ext cx="1563624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GR/Issue/Return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05472" y="2125979"/>
            <a:ext cx="1563624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Transfer/Disposal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5472" y="2340863"/>
            <a:ext cx="1563624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From/To Location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05472" y="2555747"/>
            <a:ext cx="1563624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ใครทำ เมื่อไหร่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05472" y="2770631"/>
            <a:ext cx="1563624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ใช้ทำ Audit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2377440"/>
            <a:ext cx="548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50" b="1" i="0">
                <a:solidFill>
                  <a:srgbClr val="64748B"/>
                </a:solidFill>
                <a:latin typeface="Calibri"/>
              </a:rPr>
              <a:t>1 : 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3712" y="2377440"/>
            <a:ext cx="548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50" b="1" i="0">
                <a:solidFill>
                  <a:srgbClr val="64748B"/>
                </a:solidFill>
                <a:latin typeface="Calibri"/>
              </a:rPr>
              <a:t>1 : 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4370832"/>
            <a:ext cx="8595360" cy="3657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50" b="1" i="1">
                <a:solidFill>
                  <a:srgbClr val="0D9488"/>
                </a:solidFill>
                <a:latin typeface="Calibri"/>
              </a:rPr>
              <a:t>อยากรู้ "เหลือกี่ชิ้นทั้งหมด" ?  →  SUM(PartStock.GoodQty) ของ Part นั้น  (ไม่เก็บเป็นเลขนิ่งใน Part อีกต่อไป)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ERD — แผนภาพความสัมพันธ์ทั้งหมด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04672"/>
            <a:ext cx="822960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กล่อง = ตาราง  ·  เส้น = ความสัมพันธ์ (1 : 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1783080" cy="1019556"/>
          </a:xfrm>
          <a:prstGeom prst="roundRect">
            <a:avLst/>
          </a:prstGeom>
          <a:solidFill>
            <a:srgbClr val="EEF3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178308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23544"/>
            <a:ext cx="16459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16152"/>
            <a:ext cx="164592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700" b="1" i="0">
                <a:solidFill>
                  <a:srgbClr val="2563EB"/>
                </a:solidFill>
                <a:latin typeface="Calibri"/>
              </a:rPr>
              <a:t>MASTER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389888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89888"/>
            <a:ext cx="132588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577340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577340"/>
            <a:ext cx="132588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764792"/>
            <a:ext cx="132588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Description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914400"/>
            <a:ext cx="1920240" cy="1019556"/>
          </a:xfrm>
          <a:prstGeom prst="roundRect">
            <a:avLst/>
          </a:prstGeom>
          <a:solidFill>
            <a:srgbClr val="E9F6F4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914400"/>
            <a:ext cx="1920240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59" y="923544"/>
            <a:ext cx="178308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59" y="1216152"/>
            <a:ext cx="178308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700" b="1" i="0">
                <a:solidFill>
                  <a:srgbClr val="0D9488"/>
                </a:solidFill>
                <a:latin typeface="Calibri"/>
              </a:rPr>
              <a:t>MASTER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1389888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1389888"/>
            <a:ext cx="14630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1577340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1577340"/>
            <a:ext cx="14630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1764792"/>
            <a:ext cx="14630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Name · Type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331720"/>
            <a:ext cx="2057400" cy="1956815"/>
          </a:xfrm>
          <a:prstGeom prst="roundRect">
            <a:avLst/>
          </a:prstGeom>
          <a:solidFill>
            <a:srgbClr val="EEF3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331720"/>
            <a:ext cx="205740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340863"/>
            <a:ext cx="19202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633472"/>
            <a:ext cx="192024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700" b="1" i="0">
                <a:solidFill>
                  <a:srgbClr val="2563EB"/>
                </a:solidFill>
                <a:latin typeface="Calibri"/>
              </a:rPr>
              <a:t>ตัวอะไหล่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2807208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2807208"/>
            <a:ext cx="160020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2994660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2994660"/>
            <a:ext cx="160020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3182112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182112"/>
            <a:ext cx="160020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CategoryId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3369564"/>
            <a:ext cx="160020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PartName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3557016"/>
            <a:ext cx="160020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Unit · MainUnit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3744468"/>
            <a:ext cx="160020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CostPerUnit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3931920"/>
            <a:ext cx="160020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ImagePath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4119372"/>
            <a:ext cx="160020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min/max/reorder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80360" y="2331720"/>
            <a:ext cx="1874519" cy="1581912"/>
          </a:xfrm>
          <a:prstGeom prst="roundRect">
            <a:avLst/>
          </a:prstGeom>
          <a:solidFill>
            <a:srgbClr val="E9F6F4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360" y="2331720"/>
            <a:ext cx="1874519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71800" y="2340863"/>
            <a:ext cx="173736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PartStock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2633472"/>
            <a:ext cx="17373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700" b="1" i="0">
                <a:solidFill>
                  <a:srgbClr val="0D9488"/>
                </a:solidFill>
                <a:latin typeface="Calibri"/>
              </a:rPr>
              <a:t>ในคลัง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53512" y="2807208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64408" y="2807208"/>
            <a:ext cx="1417319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53512" y="2994660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64408" y="2994660"/>
            <a:ext cx="1417319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53512" y="3182112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64408" y="3182112"/>
            <a:ext cx="1417319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90088" y="3369564"/>
            <a:ext cx="1417319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GoodQty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90088" y="3557016"/>
            <a:ext cx="1417319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DefectiveQty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0088" y="3744468"/>
            <a:ext cx="1417319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UQ(Part,Loc)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20640" y="2331720"/>
            <a:ext cx="1874519" cy="1581912"/>
          </a:xfrm>
          <a:prstGeom prst="roundRect">
            <a:avLst/>
          </a:prstGeom>
          <a:solidFill>
            <a:srgbClr val="FBF1E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20640" y="2331720"/>
            <a:ext cx="1874519" cy="2926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12079" y="2340863"/>
            <a:ext cx="173736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PartUnit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79" y="2633472"/>
            <a:ext cx="17373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700" b="1" i="0">
                <a:solidFill>
                  <a:srgbClr val="B45309"/>
                </a:solidFill>
                <a:latin typeface="Calibri"/>
              </a:rPr>
              <a:t>ชิ้นเฉพาะ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93792" y="2807208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04688" y="2807208"/>
            <a:ext cx="1417319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93792" y="2994660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04688" y="2994660"/>
            <a:ext cx="1417319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93792" y="3182112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04688" y="3182112"/>
            <a:ext cx="1417319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93792" y="3369564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04688" y="3369564"/>
            <a:ext cx="1417319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SerialNo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0368" y="3557016"/>
            <a:ext cx="1417319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ExpiryDate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0368" y="3744468"/>
            <a:ext cx="1417319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Condition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269480" y="2331720"/>
            <a:ext cx="1600200" cy="1394460"/>
          </a:xfrm>
          <a:prstGeom prst="roundRect">
            <a:avLst/>
          </a:prstGeom>
          <a:solidFill>
            <a:srgbClr val="F1F2F4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269480" y="2331720"/>
            <a:ext cx="1600200" cy="29260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60920" y="2340863"/>
            <a:ext cx="14630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StockMovement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60920" y="2633472"/>
            <a:ext cx="146304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700" b="1" i="0">
                <a:solidFill>
                  <a:srgbClr val="6B7280"/>
                </a:solidFill>
                <a:latin typeface="Calibri"/>
              </a:rPr>
              <a:t>LEDGER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42631" y="2807208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53528" y="2807208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42631" y="2994660"/>
            <a:ext cx="29260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53528" y="2994660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79208" y="3182112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From/To Loc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79208" y="3369564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Type · Qty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79208" y="3557016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E2D40"/>
                </a:solidFill>
                <a:latin typeface="Consolas"/>
              </a:rPr>
              <a:t>User · Time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161288" y="1933956"/>
            <a:ext cx="0" cy="397764"/>
          </a:xfrm>
          <a:prstGeom prst="line">
            <a:avLst/>
          </a:prstGeom>
          <a:ln w="190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207008" y="2048256"/>
            <a:ext cx="54864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1:N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331720" y="3108960"/>
            <a:ext cx="548640" cy="0"/>
          </a:xfrm>
          <a:prstGeom prst="line">
            <a:avLst/>
          </a:prstGeom>
          <a:ln w="19050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395728" y="2926080"/>
            <a:ext cx="54864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  <a:latin typeface="Calibri"/>
              </a:rPr>
              <a:t>1:N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040880" y="1933956"/>
            <a:ext cx="0" cy="260604"/>
          </a:xfrm>
          <a:prstGeom prst="line">
            <a:avLst/>
          </a:prstGeom>
          <a:ln w="19050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3817620" y="2194560"/>
            <a:ext cx="3223260" cy="0"/>
          </a:xfrm>
          <a:prstGeom prst="line">
            <a:avLst/>
          </a:prstGeom>
          <a:ln w="19050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817620" y="2194560"/>
            <a:ext cx="0" cy="137160"/>
          </a:xfrm>
          <a:prstGeom prst="line">
            <a:avLst/>
          </a:prstGeom>
          <a:ln w="19050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349240" y="1993392"/>
            <a:ext cx="54864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  <a:latin typeface="Calibri"/>
              </a:rPr>
              <a:t>1:N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303020" y="4288536"/>
            <a:ext cx="0" cy="192024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303020" y="4480560"/>
            <a:ext cx="6766559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057900" y="3913632"/>
            <a:ext cx="0" cy="566928"/>
          </a:xfrm>
          <a:prstGeom prst="line">
            <a:avLst/>
          </a:prstGeom>
          <a:ln w="19050">
            <a:solidFill>
              <a:srgbClr val="B453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69579" y="3726180"/>
            <a:ext cx="0" cy="75438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532120" y="4507992"/>
            <a:ext cx="137160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 i="0">
                <a:solidFill>
                  <a:srgbClr val="B45309"/>
                </a:solidFill>
                <a:latin typeface="Calibri"/>
              </a:rPr>
              <a:t>1:N (option)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94560" y="4297680"/>
            <a:ext cx="201168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1:N (ทุกการขยับ)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5760" y="4828032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6656" y="4828032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Primary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89304" y="4828032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00200" y="4828032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Unique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57984" y="4828032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468879" y="4828032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Foreign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81527" y="4828032"/>
            <a:ext cx="2011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Null = nullable column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Part — ตัวอะไหล่ (Master / Catalog)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04672"/>
            <a:ext cx="822960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เหลือเฉพาะ "นิยามของอะไหล่" — สะอาด อ่านเข้าใจทันที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8869680" cy="27432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78408"/>
            <a:ext cx="161848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79" y="978408"/>
            <a:ext cx="125272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59" y="978408"/>
            <a:ext cx="33832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978408"/>
            <a:ext cx="33832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978408"/>
            <a:ext cx="4956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8869680" cy="359359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234440"/>
            <a:ext cx="160020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0824" y="1234440"/>
            <a:ext cx="1234439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7" y="1234440"/>
            <a:ext cx="374904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1234440"/>
            <a:ext cx="356616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9663" y="1234440"/>
            <a:ext cx="493776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 — auto increment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" y="1474012"/>
            <a:ext cx="8833104" cy="23957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1474012"/>
            <a:ext cx="160020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0824" y="1474012"/>
            <a:ext cx="1234439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7" y="1474012"/>
            <a:ext cx="374904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1474012"/>
            <a:ext cx="356616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663" y="1474012"/>
            <a:ext cx="493776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รหัสอะไหล่ — business key (ห้ามซ้ำ)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" y="1713585"/>
            <a:ext cx="160020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0824" y="1713585"/>
            <a:ext cx="1234439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varchar(255)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7" y="1713585"/>
            <a:ext cx="374904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9663" y="1713585"/>
            <a:ext cx="493776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ชื่อ/คำอธิบายอะไหล่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1953158"/>
            <a:ext cx="8833104" cy="23957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1953158"/>
            <a:ext cx="160020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CategoryId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0824" y="1953158"/>
            <a:ext cx="1234439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7" y="1953158"/>
            <a:ext cx="374904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0752" y="1953158"/>
            <a:ext cx="356616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9663" y="1953158"/>
            <a:ext cx="493776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Category (Sub Unit)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" y="2192731"/>
            <a:ext cx="160020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Unit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0824" y="2192731"/>
            <a:ext cx="1234439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7" y="2192731"/>
            <a:ext cx="374904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9663" y="2192731"/>
            <a:ext cx="493776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หน่วยนับ default "pcs"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" y="2432304"/>
            <a:ext cx="8833104" cy="23957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2432304"/>
            <a:ext cx="160020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MainUnit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20824" y="2432304"/>
            <a:ext cx="1234439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10127" y="2432304"/>
            <a:ext cx="374904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9663" y="2432304"/>
            <a:ext cx="493776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กลุ่มหลัก เช่น Cabinet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" y="2671876"/>
            <a:ext cx="160020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CostPerUnit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20824" y="2671876"/>
            <a:ext cx="1234439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decimal(18,2)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0127" y="2671876"/>
            <a:ext cx="374904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9663" y="2671876"/>
            <a:ext cx="493776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ต้นทุนต่อหน่วย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" y="2911449"/>
            <a:ext cx="8833104" cy="23957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" y="2911449"/>
            <a:ext cx="160020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CatalogueRef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2911449"/>
            <a:ext cx="1234439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0127" y="2911449"/>
            <a:ext cx="374904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69663" y="2911449"/>
            <a:ext cx="493776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อ้างอิงเลขใน catalogue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" y="3151022"/>
            <a:ext cx="160020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ImagePath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0824" y="3151022"/>
            <a:ext cx="1234439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varchar(255)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0127" y="3151022"/>
            <a:ext cx="374904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69663" y="3151022"/>
            <a:ext cx="493776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พาธรูป /assets/parts/...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" y="3390595"/>
            <a:ext cx="8833104" cy="23957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" y="3390595"/>
            <a:ext cx="160020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Remark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20824" y="3390595"/>
            <a:ext cx="1234439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varchar(500)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10127" y="3390595"/>
            <a:ext cx="374904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69663" y="3390595"/>
            <a:ext cx="493776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หมายเหตุอิสระ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" y="3630168"/>
            <a:ext cx="160020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MinStock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20824" y="3630168"/>
            <a:ext cx="1234439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10127" y="3630168"/>
            <a:ext cx="374904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69663" y="3630168"/>
            <a:ext cx="493776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สต็อกขั้นต่ำ (นโยบาย)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" y="3869740"/>
            <a:ext cx="8833104" cy="23957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9184" y="3869740"/>
            <a:ext cx="160020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MaxStock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20824" y="3869740"/>
            <a:ext cx="1234439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0127" y="3869740"/>
            <a:ext cx="374904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69663" y="3869740"/>
            <a:ext cx="493776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สต็อกขั้นสูง (นโยบาย)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9184" y="4109313"/>
            <a:ext cx="160020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ReorderPoint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20824" y="4109313"/>
            <a:ext cx="1234439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10127" y="4109313"/>
            <a:ext cx="374904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69663" y="4109313"/>
            <a:ext cx="493776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จุดสั่งซื้อใหม่ (นโยบาย)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2608" y="4348886"/>
            <a:ext cx="8833104" cy="23957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9184" y="4348886"/>
            <a:ext cx="160020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IsActive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20824" y="4348886"/>
            <a:ext cx="1234439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tinyint(1)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10127" y="4348886"/>
            <a:ext cx="374904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69663" y="4348886"/>
            <a:ext cx="493776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สถานะ — false = soft delete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9184" y="4588459"/>
            <a:ext cx="160020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CreatedAt / UpdatedAt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20824" y="4588459"/>
            <a:ext cx="1234439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10127" y="4588459"/>
            <a:ext cx="374904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69663" y="4588459"/>
            <a:ext cx="4937760" cy="2395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เวลาสร้าง / แก้ไขล่าสุด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" y="4864608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6656" y="4864608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Primary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89304" y="4864608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00200" y="4864608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Unique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57984" y="4864608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468879" y="4864608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Foreign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81527" y="4864608"/>
            <a:ext cx="2011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Null = nullable column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PartStock — จำนวนในคลัง (Balance)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04672"/>
            <a:ext cx="822960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ยอดคงเหลือจริง แยกตามคลัง + สภาพดี/เสีย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8366760" cy="27432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15568"/>
            <a:ext cx="138988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15568"/>
            <a:ext cx="12984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115568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115568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115568"/>
            <a:ext cx="454456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71600"/>
            <a:ext cx="8366760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371600"/>
            <a:ext cx="137160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2224" y="1371600"/>
            <a:ext cx="12801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1371600"/>
            <a:ext cx="420624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1371600"/>
            <a:ext cx="402336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1371600"/>
            <a:ext cx="45262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" y="1700784"/>
            <a:ext cx="8330184" cy="3291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1700784"/>
            <a:ext cx="137160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2224" y="1700784"/>
            <a:ext cx="12801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1700784"/>
            <a:ext cx="420624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3592" y="1700784"/>
            <a:ext cx="402336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8224" y="1700784"/>
            <a:ext cx="45262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1E2D40"/>
                </a:solidFill>
                <a:latin typeface="Calibri"/>
              </a:rPr>
              <a:t>→ Part — อะไหล่ตัวไหน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" y="2029967"/>
            <a:ext cx="137160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2224" y="2029967"/>
            <a:ext cx="12801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2029967"/>
            <a:ext cx="420624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2029967"/>
            <a:ext cx="402336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8224" y="2029967"/>
            <a:ext cx="45262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1E2D40"/>
                </a:solidFill>
                <a:latin typeface="Calibri"/>
              </a:rPr>
              <a:t>→ Location — คลังไหน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2359152"/>
            <a:ext cx="8330184" cy="3291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2359152"/>
            <a:ext cx="137160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1E2D40"/>
                </a:solidFill>
                <a:latin typeface="Consolas"/>
              </a:rPr>
              <a:t>GoodQty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359152"/>
            <a:ext cx="12801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27248" y="2359152"/>
            <a:ext cx="420624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8224" y="2359152"/>
            <a:ext cx="45262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1E2D40"/>
                </a:solidFill>
                <a:latin typeface="Calibri"/>
              </a:rPr>
              <a:t>จำนวนสภาพดี (พร้อมใช้)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" y="2688336"/>
            <a:ext cx="137160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1E2D40"/>
                </a:solidFill>
                <a:latin typeface="Consolas"/>
              </a:rPr>
              <a:t>DefectiveQty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92224" y="2688336"/>
            <a:ext cx="12801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27248" y="2688336"/>
            <a:ext cx="420624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78224" y="2688336"/>
            <a:ext cx="45262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1E2D40"/>
                </a:solidFill>
                <a:latin typeface="Calibri"/>
              </a:rPr>
              <a:t>จำนวนสภาพเสีย (รอซ่อม/ทิ้ง)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" y="3017520"/>
            <a:ext cx="8330184" cy="3291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3017520"/>
            <a:ext cx="137160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1E2D40"/>
                </a:solidFill>
                <a:latin typeface="Consolas"/>
              </a:rPr>
              <a:t>UpdatedAt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92224" y="3017520"/>
            <a:ext cx="12801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27248" y="3017520"/>
            <a:ext cx="420624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78224" y="3017520"/>
            <a:ext cx="45262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1E2D40"/>
                </a:solidFill>
                <a:latin typeface="Calibri"/>
              </a:rPr>
              <a:t>เวลาปรับยอดล่าสุด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3383280"/>
            <a:ext cx="8595360" cy="1143000"/>
          </a:xfrm>
          <a:prstGeom prst="roundRect">
            <a:avLst/>
          </a:prstGeom>
          <a:solidFill>
            <a:srgbClr val="E9F6F4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456432"/>
            <a:ext cx="27432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กฎสำคัญ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0">
                <a:solidFill>
                  <a:srgbClr val="1E2D40"/>
                </a:solidFill>
                <a:latin typeface="Calibri"/>
              </a:rPr>
              <a:t>UNIQUE (PartId, LocationId)  — อะไหล่ 1 ตัว ต่อ 1 คลัง มีได้แถวเดียว (กันยอดซ้ำ/ตีกัน)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0">
                <a:solidFill>
                  <a:srgbClr val="1E2D40"/>
                </a:solidFill>
                <a:latin typeface="Calibri"/>
              </a:rPr>
              <a:t>ยอดรวมทั้งระบบของอะไหล่ตัวหนึ่ง  =  SUM(GoodQty) ทุก Location  — แทน Part.StockQuantity เดิม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0">
                <a:solidFill>
                  <a:srgbClr val="1E2D40"/>
                </a:solidFill>
                <a:latin typeface="Calibri"/>
              </a:rPr>
              <a:t>ทุกครั้งที่ยอดเปลี่ยน ต้องผ่าน StockService → เขียน StockMovement 1 แถวเสมอ (กันยอดเพี้ยน)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PartUnit — ชิ้นเฉพาะตัว (Serial · ทางเลือก)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04672"/>
            <a:ext cx="822960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ใช้เฉพาะอะไหล่ที่ต้อง track ทีละชิ้น เช่น มีซีเรียล / มีวันหมดอายุ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8366760" cy="27432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78408"/>
            <a:ext cx="1435607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978408"/>
            <a:ext cx="12984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978408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978408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978408"/>
            <a:ext cx="44988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8366760" cy="24277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234440"/>
            <a:ext cx="1417319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37943" y="1234440"/>
            <a:ext cx="12801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1234440"/>
            <a:ext cx="420624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234440"/>
            <a:ext cx="402336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3944" y="1234440"/>
            <a:ext cx="44805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" y="1504188"/>
            <a:ext cx="8330184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1504188"/>
            <a:ext cx="1417319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7943" y="1504188"/>
            <a:ext cx="12801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2968" y="1504188"/>
            <a:ext cx="420624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1504188"/>
            <a:ext cx="402336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23944" y="1504188"/>
            <a:ext cx="44805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→ Part — เป็นอะไหล่รุ่นไหน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" y="1773936"/>
            <a:ext cx="1417319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37943" y="1773936"/>
            <a:ext cx="12801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2968" y="1773936"/>
            <a:ext cx="420624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9312" y="1773936"/>
            <a:ext cx="402336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23944" y="1773936"/>
            <a:ext cx="44805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→ Location — ชิ้นนี้อยู่คลังไหน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2043684"/>
            <a:ext cx="8330184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2043684"/>
            <a:ext cx="1417319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SerialNo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37943" y="2043684"/>
            <a:ext cx="12801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72968" y="2043684"/>
            <a:ext cx="420624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9312" y="2043684"/>
            <a:ext cx="402336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23944" y="2043684"/>
            <a:ext cx="44805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หมายเลขซีเรียลของชิ้นนี้ (ห้ามซ้ำ)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" y="2313432"/>
            <a:ext cx="1417319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Condition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37943" y="2313432"/>
            <a:ext cx="12801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72968" y="2313432"/>
            <a:ext cx="420624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23944" y="2313432"/>
            <a:ext cx="44805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Good / Defective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" y="2583180"/>
            <a:ext cx="8330184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" y="2583180"/>
            <a:ext cx="1417319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ExpiryDate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37943" y="2583180"/>
            <a:ext cx="12801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72968" y="2583180"/>
            <a:ext cx="420624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23944" y="2583180"/>
            <a:ext cx="44805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วันหมดอายุของชิ้นนี้ (ตาม lot)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" y="2852928"/>
            <a:ext cx="1417319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IsUnrepairable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37943" y="2852928"/>
            <a:ext cx="12801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onsolas"/>
              </a:rPr>
              <a:t>tinyint(1)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72968" y="2852928"/>
            <a:ext cx="420624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23944" y="2852928"/>
            <a:ext cx="44805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ซ่อมไม่ได้ → เข้า Disposal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" y="3122676"/>
            <a:ext cx="8330184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" y="3122676"/>
            <a:ext cx="1417319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ReceivedAt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37943" y="3122676"/>
            <a:ext cx="12801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72968" y="3122676"/>
            <a:ext cx="420624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23944" y="3122676"/>
            <a:ext cx="44805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วันรับเข้า — ใช้คำนวณ Aging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" y="3392424"/>
            <a:ext cx="1417319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Status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37943" y="3392424"/>
            <a:ext cx="12801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72968" y="3392424"/>
            <a:ext cx="420624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23944" y="3392424"/>
            <a:ext cx="4480560" cy="2697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InStock / Issued / Disposed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4320" y="3840480"/>
            <a:ext cx="8595360" cy="713232"/>
          </a:xfrm>
          <a:prstGeom prst="roundRect">
            <a:avLst/>
          </a:prstGeom>
          <a:solidFill>
            <a:srgbClr val="FBF1E7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913632"/>
            <a:ext cx="36576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B45309"/>
                </a:solidFill>
                <a:latin typeface="Calibri"/>
              </a:rPr>
              <a:t>เมื่อไหร่ถึงใช้ตารางนี้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169663"/>
            <a:ext cx="8229600" cy="3657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อะไหล่ทั่วไป (น็อต สายไฟ) → ไม่ต้องมี PartUnit ใช้แค่ PartStock นับจำนวนพอ   |   อะไหล่ที่ต้องรู้รายชิ้น (mainboard มีซีเรียล, ของมีวันหมดอายุ) → สร้าง PartUnit 1 แถวต่อชิ้น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StockMovement — ประวัติทุกการเคลื่อนไหว (Ledger)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04672"/>
            <a:ext cx="822960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เขียนทุกครั้งที่ของขยับ — ห้ามแก้ ห้ามลบ (append-only)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8869680" cy="27432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78408"/>
            <a:ext cx="148132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978408"/>
            <a:ext cx="12984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978408"/>
            <a:ext cx="33832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978408"/>
            <a:ext cx="33832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978408"/>
            <a:ext cx="504748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88696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23444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3664" y="1234440"/>
            <a:ext cx="128016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1234440"/>
            <a:ext cx="37490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234440"/>
            <a:ext cx="356616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1234440"/>
            <a:ext cx="502920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" y="1485900"/>
            <a:ext cx="8833104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148590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MovementType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3664" y="1485900"/>
            <a:ext cx="128016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8688" y="1485900"/>
            <a:ext cx="37490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8224" y="1485900"/>
            <a:ext cx="502920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GR / Issue / Return / Transfer / Disposal / Adjust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" y="173736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83664" y="1737360"/>
            <a:ext cx="128016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8688" y="1737360"/>
            <a:ext cx="37490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2" y="1737360"/>
            <a:ext cx="356616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8224" y="1737360"/>
            <a:ext cx="502920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Part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1988820"/>
            <a:ext cx="8833104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198882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FromLocationId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83664" y="1988820"/>
            <a:ext cx="128016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18688" y="1988820"/>
            <a:ext cx="37490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9312" y="1988820"/>
            <a:ext cx="356616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8224" y="1988820"/>
            <a:ext cx="502920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Location ต้นทาง (ออก)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" y="224028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ToLocationId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83664" y="2240280"/>
            <a:ext cx="128016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18688" y="2240280"/>
            <a:ext cx="37490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9312" y="2240280"/>
            <a:ext cx="356616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8224" y="2240280"/>
            <a:ext cx="502920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Location ปลายทาง (เข้า)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" y="2491740"/>
            <a:ext cx="8833104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" y="249174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Qty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83664" y="2491740"/>
            <a:ext cx="128016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18688" y="2491740"/>
            <a:ext cx="37490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78224" y="2491740"/>
            <a:ext cx="502920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จำนวนที่ขยับ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" y="274320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Condition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83664" y="2743200"/>
            <a:ext cx="128016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18688" y="2743200"/>
            <a:ext cx="37490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78224" y="2743200"/>
            <a:ext cx="502920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Good / Defective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" y="2994660"/>
            <a:ext cx="8833104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" y="299466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RefType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83664" y="2994660"/>
            <a:ext cx="128016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18688" y="2994660"/>
            <a:ext cx="37490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78224" y="2994660"/>
            <a:ext cx="502920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Ticket / GoodsReceipt / Transfer ...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" y="324612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RefId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83664" y="3246120"/>
            <a:ext cx="128016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18688" y="3246120"/>
            <a:ext cx="37490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78224" y="3246120"/>
            <a:ext cx="502920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เลขเอกสารอ้างอิง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8" y="3497580"/>
            <a:ext cx="8833104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4" y="349758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83664" y="3497580"/>
            <a:ext cx="128016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decimal(18,2)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18688" y="3497580"/>
            <a:ext cx="37490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78224" y="3497580"/>
            <a:ext cx="502920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ต้นทุน ณ ตอนขยับ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9184" y="3749039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UserName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83664" y="3749039"/>
            <a:ext cx="128016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18688" y="3749039"/>
            <a:ext cx="37490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8224" y="3749039"/>
            <a:ext cx="502920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ใครเป็นคนทำ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2608" y="4000500"/>
            <a:ext cx="8833104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9184" y="400050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Timestamp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83664" y="4000500"/>
            <a:ext cx="128016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18688" y="4000500"/>
            <a:ext cx="37490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78224" y="4000500"/>
            <a:ext cx="502920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เวลาที่ทำรายการ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50" b="1" i="1">
                <a:solidFill>
                  <a:srgbClr val="6B7280"/>
                </a:solidFill>
                <a:latin typeface="Calibri"/>
              </a:rPr>
              <a:t>ทำไมสำคัญ:  ใช้ทำ Audit Report, คำนวณ Aging, Lifecycle ของอะไหล่ — เป็นหลักฐานว่ายอดในคลังมาจากไหน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Before → After — ฟิลด์ไหน ย้ายไปไหน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04672"/>
            <a:ext cx="822960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สรุปการเปลี่ยนแปลงให้ทีมเห็นภาพรวม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8595360" cy="310896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78408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ฟิลด์เดิมใน 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978408"/>
            <a:ext cx="30632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ย้ายไปที่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978408"/>
            <a:ext cx="27889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เหตุผล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71016"/>
            <a:ext cx="85953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71016"/>
            <a:ext cx="73152" cy="3931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271016"/>
            <a:ext cx="228600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E2D40"/>
                </a:solidFill>
                <a:latin typeface="Consolas"/>
              </a:rPr>
              <a:t>StockQuantity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271016"/>
            <a:ext cx="310896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DC2626"/>
                </a:solidFill>
                <a:latin typeface="Calibri"/>
              </a:rPr>
              <a:t>→  ลบทิ้ง → SUM(PartStock)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271016"/>
            <a:ext cx="283464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ของอยู่หลายคลัง เลขเดียวไม่พอ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05355"/>
            <a:ext cx="85953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705355"/>
            <a:ext cx="73152" cy="3931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1705355"/>
            <a:ext cx="228600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E2D40"/>
                </a:solidFill>
                <a:latin typeface="Consolas"/>
              </a:rPr>
              <a:t>SerialNo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705355"/>
            <a:ext cx="310896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B45309"/>
                </a:solidFill>
                <a:latin typeface="Calibri"/>
              </a:rPr>
              <a:t>→  PartUnit.SerialNo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705355"/>
            <a:ext cx="283464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1 รุ่นมีหลายซีเรียล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39696"/>
            <a:ext cx="85953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139696"/>
            <a:ext cx="73152" cy="3931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139696"/>
            <a:ext cx="228600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E2D40"/>
                </a:solidFill>
                <a:latin typeface="Consolas"/>
              </a:rPr>
              <a:t>ExpiryDate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2139696"/>
            <a:ext cx="310896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B45309"/>
                </a:solidFill>
                <a:latin typeface="Calibri"/>
              </a:rPr>
              <a:t>→  PartUnit.ExpiryDate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2139696"/>
            <a:ext cx="283464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คนละ lot หมดอายุไม่พร้อมกัน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74036"/>
            <a:ext cx="85953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574036"/>
            <a:ext cx="73152" cy="3931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574036"/>
            <a:ext cx="228600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E2D40"/>
                </a:solidFill>
                <a:latin typeface="Consolas"/>
              </a:rPr>
              <a:t>IsUnrepairable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574036"/>
            <a:ext cx="310896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B45309"/>
                </a:solidFill>
                <a:latin typeface="Calibri"/>
              </a:rPr>
              <a:t>→  PartUnit.IsUnrepairable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574036"/>
            <a:ext cx="283464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เป็นสถานะของชิ้น ไม่ใช่ของรุ่น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08376"/>
            <a:ext cx="85953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008376"/>
            <a:ext cx="73152" cy="3931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008376"/>
            <a:ext cx="228600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E2D40"/>
                </a:solidFill>
                <a:latin typeface="Consolas"/>
              </a:rPr>
              <a:t>Aging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3008376"/>
            <a:ext cx="310896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6B7280"/>
                </a:solidFill>
                <a:latin typeface="Calibri"/>
              </a:rPr>
              <a:t>→  คำนวณจาก PartUnit.ReceivedAt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008376"/>
            <a:ext cx="283464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ค่าที่คำนวณได้ ไม่ควรเก็บนิ่ง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42716"/>
            <a:ext cx="85953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3442716"/>
            <a:ext cx="73152" cy="3931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3442716"/>
            <a:ext cx="228600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E2D40"/>
                </a:solidFill>
                <a:latin typeface="Consolas"/>
              </a:rPr>
              <a:t>OrderNumber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3442716"/>
            <a:ext cx="310896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6B7280"/>
                </a:solidFill>
                <a:latin typeface="Calibri"/>
              </a:rPr>
              <a:t>→  GoodsReceipt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3442716"/>
            <a:ext cx="283464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ข้อมูลตอนรับเข้า (transaction)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877056"/>
            <a:ext cx="85953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3877056"/>
            <a:ext cx="73152" cy="3931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3877056"/>
            <a:ext cx="228600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E2D40"/>
                </a:solidFill>
                <a:latin typeface="Consolas"/>
              </a:rPr>
              <a:t>TrackingNumber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877056"/>
            <a:ext cx="310896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6B7280"/>
                </a:solidFill>
                <a:latin typeface="Calibri"/>
              </a:rPr>
              <a:t>→  GoodsReceipt / Transfer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3877056"/>
            <a:ext cx="2834640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ข้อมูลการขนส่ง (transaction)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4338828"/>
            <a:ext cx="859536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 i="1">
                <a:solidFill>
                  <a:srgbClr val="059669"/>
                </a:solidFill>
                <a:latin typeface="Calibri"/>
              </a:rPr>
              <a:t>เหลือใน Part เฉพาะ "นิยามของอะไหล่" → ทีมเปิดตารางปุ๊บ เข้าใจทันทีว่าคือ catalog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7955279" cy="5943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ความสัมพันธ์ &amp; แผนย้าย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7955279" cy="384048"/>
          </a:xfrm>
          <a:prstGeom prst="rect">
            <a:avLst/>
          </a:prstGeom>
          <a:solidFill>
            <a:srgbClr val="122840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97280"/>
            <a:ext cx="32004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Category  1 : N 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329184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Part.CategoryId → Category.Id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097280"/>
            <a:ext cx="12801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1">
                <a:solidFill>
                  <a:srgbClr val="B0C8E8"/>
                </a:solidFill>
                <a:latin typeface="Calibri"/>
              </a:rPr>
              <a:t>SetNull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7955279" cy="384048"/>
          </a:xfrm>
          <a:prstGeom prst="rect">
            <a:avLst/>
          </a:prstGeom>
          <a:solidFill>
            <a:srgbClr val="122840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32004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Part  1 : N  PartStock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554480"/>
            <a:ext cx="329184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PartStock.PartId → Part.Id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554480"/>
            <a:ext cx="12801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1">
                <a:solidFill>
                  <a:srgbClr val="B0C8E8"/>
                </a:solidFill>
                <a:latin typeface="Calibri"/>
              </a:rPr>
              <a:t>Cascade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011680"/>
            <a:ext cx="7955279" cy="384048"/>
          </a:xfrm>
          <a:prstGeom prst="rect">
            <a:avLst/>
          </a:prstGeom>
          <a:solidFill>
            <a:srgbClr val="122840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11680"/>
            <a:ext cx="32004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Location  1 : N  PartStock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011680"/>
            <a:ext cx="329184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PartStock.LocationId → Location.Id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011680"/>
            <a:ext cx="12801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1">
                <a:solidFill>
                  <a:srgbClr val="B0C8E8"/>
                </a:solidFill>
                <a:latin typeface="Calibri"/>
              </a:rPr>
              <a:t>Restrict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468880"/>
            <a:ext cx="7955279" cy="384048"/>
          </a:xfrm>
          <a:prstGeom prst="rect">
            <a:avLst/>
          </a:prstGeom>
          <a:solidFill>
            <a:srgbClr val="122840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468880"/>
            <a:ext cx="32004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Part  1 : N  PartUnit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468880"/>
            <a:ext cx="329184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PartUnit.PartId → Part.Id  (optional)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468880"/>
            <a:ext cx="12801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1">
                <a:solidFill>
                  <a:srgbClr val="B0C8E8"/>
                </a:solidFill>
                <a:latin typeface="Calibri"/>
              </a:rPr>
              <a:t>Cascade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926080"/>
            <a:ext cx="7955279" cy="384048"/>
          </a:xfrm>
          <a:prstGeom prst="rect">
            <a:avLst/>
          </a:prstGeom>
          <a:solidFill>
            <a:srgbClr val="122840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2926080"/>
            <a:ext cx="32004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Part  1 : N  StockMovement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926080"/>
            <a:ext cx="329184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StockMovement.PartId → Part.Id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926080"/>
            <a:ext cx="12801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1">
                <a:solidFill>
                  <a:srgbClr val="B0C8E8"/>
                </a:solidFill>
                <a:latin typeface="Calibri"/>
              </a:rPr>
              <a:t>Restrict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520440"/>
            <a:ext cx="54864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แผนย้ายแบบไม่เสียข้อมูล (3 ขั้น)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840480"/>
            <a:ext cx="7955279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1.  สร้าง PartStock จากข้อมูลเดิม: 1 แถวต่อ (Part, คลังหลัก) ใส่ GoodQty = StockQuantity เดิม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78808"/>
            <a:ext cx="7955279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2.  เปลี่ยนทุกที่ที่อ่าน Part.StockQuantity ให้ไปอ่าน SUM(PartStock) แทน แล้วค่อยลบคอลัมน์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517136"/>
            <a:ext cx="7955279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3.  PartUnit ทำทีหลังได้ — เพิ่มเฉพาะตอนเริ่ม track ซีเรียลจริงจัง (schema เผื่อไว้แล้ว)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