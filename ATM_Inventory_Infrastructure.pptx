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9144000" cy="4572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ATM Inventory — Infrastructure /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03504"/>
            <a:ext cx="1097280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Web (IIS) + Mobile → HTTPS → ASP.NET Core API → MySQL + Asset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2743200" cy="21945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2743200" cy="1234440"/>
          </a:xfrm>
          <a:prstGeom prst="roundRect">
            <a:avLst/>
          </a:prstGeom>
          <a:solidFill>
            <a:srgbClr val="E3ECFD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274320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260604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🖥  Web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63624"/>
            <a:ext cx="2560320" cy="85039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Admin console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SystemAdmin / Staff / Auditor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admin*.html (static)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80360"/>
            <a:ext cx="2743200" cy="1234440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880360"/>
            <a:ext cx="274320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3"/>
            <a:ext cx="260604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📱  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09544"/>
            <a:ext cx="2560320" cy="85039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Technician (role=Tech)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สร้าง/ติดตาม Ticket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ถ่ายรูป defect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24528"/>
            <a:ext cx="274320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ผู้ใช้ในองค์กร (Intranet)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1097280"/>
            <a:ext cx="822960" cy="3291840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371600"/>
            <a:ext cx="822960" cy="27432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B45309"/>
                </a:solidFill>
                <a:latin typeface="Calibri"/>
              </a:rPr>
              <a:t>🔒</a:t>
            </a:r>
          </a:p>
          <a:p>
            <a:pPr algn="ctr"/>
            <a:r>
              <a:rPr sz="850" b="1" i="0">
                <a:solidFill>
                  <a:srgbClr val="B45309"/>
                </a:solidFill>
                <a:latin typeface="Calibri"/>
              </a:rPr>
              <a:t>HTTPS</a:t>
            </a:r>
          </a:p>
          <a:p>
            <a:pPr algn="ctr"/>
            <a:r>
              <a:rPr sz="850" b="1" i="0">
                <a:solidFill>
                  <a:srgbClr val="B45309"/>
                </a:solidFill>
                <a:latin typeface="Calibri"/>
              </a:rPr>
              <a:t>SSL cert</a:t>
            </a:r>
          </a:p>
          <a:p>
            <a:pPr algn="ctr"/>
            <a:r>
              <a:rPr sz="850" b="1" i="0">
                <a:solidFill>
                  <a:srgbClr val="B45309"/>
                </a:solidFill>
                <a:latin typeface="Calibri"/>
              </a:rPr>
              <a:t>(JWT</a:t>
            </a:r>
          </a:p>
          <a:p>
            <a:pPr algn="ctr"/>
            <a:r>
              <a:rPr sz="850" b="1" i="0">
                <a:solidFill>
                  <a:srgbClr val="B45309"/>
                </a:solidFill>
                <a:latin typeface="Calibri"/>
              </a:rPr>
              <a:t>Bearer)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960120"/>
            <a:ext cx="4572000" cy="3977639"/>
          </a:xfrm>
          <a:prstGeom prst="roundRect">
            <a:avLst/>
          </a:prstGeom>
          <a:solidFill>
            <a:srgbClr val="ECEFF4"/>
          </a:solidFill>
          <a:ln w="15875">
            <a:solidFill>
              <a:srgbClr val="1C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024128"/>
            <a:ext cx="4297680" cy="21945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950" b="1" i="0">
                <a:solidFill>
                  <a:srgbClr val="1C3557"/>
                </a:solidFill>
                <a:latin typeface="Calibri"/>
              </a:rPr>
              <a:t>WINDOWS SERVER  ·  IIS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371600"/>
            <a:ext cx="4114800" cy="868680"/>
          </a:xfrm>
          <a:prstGeom prst="roundRect">
            <a:avLst/>
          </a:prstGeom>
          <a:solidFill>
            <a:srgbClr val="EEF1F6"/>
          </a:solidFill>
          <a:ln w="15875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1371600"/>
            <a:ext cx="4114800" cy="274320"/>
          </a:xfrm>
          <a:prstGeom prst="round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380744"/>
            <a:ext cx="3977639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IIS  (Web Server + Reverse Proxy)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1700784"/>
            <a:ext cx="3931920" cy="48463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เสิร์ฟ static frontend (HTML/JS/CSS)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ASP.NET Core Module → host API (in-process)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514600"/>
            <a:ext cx="4114800" cy="1051560"/>
          </a:xfrm>
          <a:prstGeom prst="roundRect">
            <a:avLst/>
          </a:prstGeom>
          <a:solidFill>
            <a:srgbClr val="E3ECFD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2514600"/>
            <a:ext cx="411480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523744"/>
            <a:ext cx="3977639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ASP.NET Core API  (.NET 10, Kestrel)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2843784"/>
            <a:ext cx="3931920" cy="66751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Controllers (Auth/Parts/Ticket/GoodsReceipt/...)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JWT auth + Role policies (SystemAdmin/Staff/Auditor/Tech)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EF Core  ·  StockService · AuditService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3794760"/>
            <a:ext cx="4114800" cy="1005840"/>
          </a:xfrm>
          <a:prstGeom prst="roundRect">
            <a:avLst/>
          </a:prstGeom>
          <a:solidFill>
            <a:srgbClr val="FBF1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3794760"/>
            <a:ext cx="4114800" cy="2743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803904"/>
            <a:ext cx="3977639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Serves  /assets/*  (static files)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123944"/>
            <a:ext cx="3931920" cy="62179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รูปอะไหล่ → อ่านจากโฟลเดอร์ภายนอก (AssetPath)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config: appsettings.Production.json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960120"/>
            <a:ext cx="2468880" cy="21945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DATA (บน server / โฟลเดอร์แยก)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1371600"/>
            <a:ext cx="2331720" cy="1371600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92640" y="1371600"/>
            <a:ext cx="233172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1380744"/>
            <a:ext cx="219456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🗄  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7" y="1700784"/>
            <a:ext cx="2148839" cy="98755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MySQL (production)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Dev: SQLite (AtmInventory.db)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EF Core / migrations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FK + concurrency (RowVersion)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2971800"/>
            <a:ext cx="2331720" cy="1234440"/>
          </a:xfrm>
          <a:prstGeom prst="roundRect">
            <a:avLst/>
          </a:prstGeom>
          <a:solidFill>
            <a:srgbClr val="EEF1F6"/>
          </a:solidFill>
          <a:ln w="15875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92640" y="2971800"/>
            <a:ext cx="2331720" cy="274320"/>
          </a:xfrm>
          <a:prstGeom prst="round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2980944"/>
            <a:ext cx="219456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🖼  Asset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3300984"/>
            <a:ext cx="2148839" cy="85039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D:\ATMAssets\parts\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รูปอะไหล่ (นอก repo)</a:t>
            </a:r>
          </a:p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• IIS/API serve /assets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108960" y="1828800"/>
            <a:ext cx="594360" cy="365760"/>
          </a:xfrm>
          <a:prstGeom prst="line">
            <a:avLst/>
          </a:prstGeom>
          <a:ln w="25400">
            <a:solidFill>
              <a:srgbClr val="059669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51760" y="1417320"/>
            <a:ext cx="2011680" cy="21945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/>
            <a:r>
              <a:rPr sz="800" b="1" i="1">
                <a:solidFill>
                  <a:srgbClr val="059669"/>
                </a:solidFill>
                <a:latin typeface="Calibri"/>
              </a:rPr>
              <a:t>fetch (web)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3108960" y="3291840"/>
            <a:ext cx="594360" cy="182880"/>
          </a:xfrm>
          <a:prstGeom prst="line">
            <a:avLst/>
          </a:prstGeom>
          <a:ln w="25400">
            <a:solidFill>
              <a:srgbClr val="0D948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468880" y="3675887"/>
            <a:ext cx="2011680" cy="21945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/>
            <a:r>
              <a:rPr sz="800" b="1" i="1">
                <a:solidFill>
                  <a:srgbClr val="0D9488"/>
                </a:solidFill>
                <a:latin typeface="Calibri"/>
              </a:rPr>
              <a:t>REST + JWT (mobile)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26280" y="2743200"/>
            <a:ext cx="502920" cy="182880"/>
          </a:xfrm>
          <a:prstGeom prst="line">
            <a:avLst/>
          </a:prstGeom>
          <a:ln w="25400">
            <a:solidFill>
              <a:srgbClr val="F5A623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144000" y="2194560"/>
            <a:ext cx="548640" cy="822960"/>
          </a:xfrm>
          <a:prstGeom prst="line">
            <a:avLst/>
          </a:prstGeom>
          <a:ln w="25400">
            <a:solidFill>
              <a:srgbClr val="2563EB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549640" y="1965960"/>
            <a:ext cx="109728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/>
            <a:r>
              <a:rPr sz="800" b="1" i="1">
                <a:solidFill>
                  <a:srgbClr val="2563EB"/>
                </a:solidFill>
                <a:latin typeface="Calibri"/>
              </a:rPr>
              <a:t>EF Core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9144000" y="3657600"/>
            <a:ext cx="548640" cy="640080"/>
          </a:xfrm>
          <a:prstGeom prst="line">
            <a:avLst/>
          </a:prstGeom>
          <a:ln w="25400">
            <a:solidFill>
              <a:srgbClr val="B45309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49640" y="4297680"/>
            <a:ext cx="109728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/>
            <a:r>
              <a:rPr sz="800" b="1" i="1">
                <a:solidFill>
                  <a:srgbClr val="B45309"/>
                </a:solidFill>
                <a:latin typeface="Calibri"/>
              </a:rPr>
              <a:t>อ่านรูป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532120"/>
            <a:ext cx="1161288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900" b="0" i="1">
                <a:solidFill>
                  <a:srgbClr val="1C3557"/>
                </a:solidFill>
                <a:latin typeface="Calibri"/>
              </a:rPr>
              <a:t>Deploy checklist:  appsettings.Production.json (MySQL conn + AssetPath)  ·  web.config (ASP.NET Core Module)  ·  SSL binding  ·  CORS จำกัด origin  ·  EF Migrations แทน EnsureCreated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126480"/>
            <a:ext cx="1161288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Legend:  ── เส้นทึบ = การเรียกจริง (HTTP/EF)   ·   ทุกการเรียก API ผ่าน HTTPS + JWT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