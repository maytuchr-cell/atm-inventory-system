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7772400" cy="9144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ERD —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1920240"/>
            <a:ext cx="777240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800" b="0" i="0">
                <a:solidFill>
                  <a:srgbClr val="B0C8E8"/>
                </a:solidFill>
                <a:latin typeface="Calibri"/>
              </a:rPr>
              <a:t>Phase 1 Master Data — Detailed Field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2606040"/>
            <a:ext cx="6675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743200"/>
            <a:ext cx="7315200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 i="0">
                <a:solidFill>
                  <a:srgbClr val="90AED8"/>
                </a:solidFill>
                <a:latin typeface="Calibri"/>
              </a:rPr>
              <a:t>Part Master · Categories · Part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401568"/>
            <a:ext cx="73152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ATM Inventory System  |  DataOne Asia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ERD Overview — ความสัมพันธ์ระหว่างตาราง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5 ตารางหลักของ Master Data Phase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691640" cy="3108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36776"/>
            <a:ext cx="1691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636776"/>
            <a:ext cx="3657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36776"/>
            <a:ext cx="118872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74519"/>
            <a:ext cx="118872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name (Sub Unit)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12264"/>
            <a:ext cx="118872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1691640" cy="31089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53512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Vendor*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36976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3236976"/>
            <a:ext cx="3657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36976"/>
            <a:ext cx="118872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474720"/>
            <a:ext cx="118872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code ·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1143000"/>
            <a:ext cx="2103120" cy="310896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170432"/>
            <a:ext cx="196596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1453896"/>
            <a:ext cx="210312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98648" y="1453896"/>
            <a:ext cx="3657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1453896"/>
            <a:ext cx="1600199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1691640"/>
            <a:ext cx="3657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1691640"/>
            <a:ext cx="1600199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1929384"/>
            <a:ext cx="3657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1929384"/>
            <a:ext cx="1600199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categoryId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2167128"/>
            <a:ext cx="1600199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mainUnit / remark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2404872"/>
            <a:ext cx="1600199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imagePath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642616"/>
            <a:ext cx="1600199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stock / min / max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1097280"/>
            <a:ext cx="1828800" cy="310896"/>
          </a:xfrm>
          <a:prstGeom prst="rect">
            <a:avLst/>
          </a:prstGeom>
          <a:solidFill>
            <a:srgbClr val="0D7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59" y="1124712"/>
            <a:ext cx="169164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AtmModel (ATM Group)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1408176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1408176"/>
            <a:ext cx="3657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1408176"/>
            <a:ext cx="13258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1645920"/>
            <a:ext cx="13258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modelCode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1883664"/>
            <a:ext cx="3657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1" i="0">
                <a:solidFill>
                  <a:srgbClr val="534AB7"/>
                </a:solidFill>
                <a:latin typeface="Calibr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1883664"/>
            <a:ext cx="13258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2743200"/>
            <a:ext cx="1828800" cy="310896"/>
          </a:xfrm>
          <a:prstGeom prst="rect">
            <a:avLst/>
          </a:prstGeom>
          <a:solidFill>
            <a:srgbClr val="02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59" y="2770632"/>
            <a:ext cx="169164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EquivalentGroup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054096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53328" y="3054096"/>
            <a:ext cx="3657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054096"/>
            <a:ext cx="13258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9048" y="3291839"/>
            <a:ext cx="13258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53328" y="3529584"/>
            <a:ext cx="3657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1" i="0">
                <a:solidFill>
                  <a:srgbClr val="534AB7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529584"/>
            <a:ext cx="13258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65960" y="1737360"/>
            <a:ext cx="868680" cy="91440"/>
          </a:xfrm>
          <a:prstGeom prst="line">
            <a:avLst/>
          </a:prstGeom>
          <a:ln w="2032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103120" y="1481328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1 : 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1865376"/>
            <a:ext cx="914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categoryId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937760" y="1554480"/>
            <a:ext cx="1051560" cy="0"/>
          </a:xfrm>
          <a:prstGeom prst="line">
            <a:avLst/>
          </a:prstGeom>
          <a:ln w="20320">
            <a:solidFill>
              <a:srgbClr val="534A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983480" y="1353312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N : M  partNo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937760" y="2011680"/>
            <a:ext cx="1051560" cy="1097280"/>
          </a:xfrm>
          <a:prstGeom prst="line">
            <a:avLst/>
          </a:prstGeom>
          <a:ln w="20320">
            <a:solidFill>
              <a:srgbClr val="534A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937760" y="2651760"/>
            <a:ext cx="118872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N : M  partNo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* Vendor เป็น master data แต่ใช้ในโมดูล Goods Receipt (Phase 2) — ไม่ผูกกับ Part โดยตรง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Primary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9304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00200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Unique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57984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68879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Foreign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81527" y="4846320"/>
            <a:ext cx="2011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Null = nullable column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44568" y="4864608"/>
            <a:ext cx="365760" cy="18288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44568" y="486460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01768" y="4846320"/>
            <a:ext cx="228600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added from GRG catalog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Part — Identity &amp; Catalog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ตาราง Parts (1/2) — ชนิดข้อมูลและขนาด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7955279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78408"/>
            <a:ext cx="14813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978408"/>
            <a:ext cx="1344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978408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978408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978408"/>
            <a:ext cx="39959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7955279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234440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" y="1234440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1234440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1234440"/>
            <a:ext cx="40233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3" y="1234440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 — auto increment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1508760"/>
            <a:ext cx="7918704" cy="2743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508760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OrderNumber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" y="1508760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1508760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5383" y="1508760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เลขที่สั่งซื้อ/อ้างอิงเอกสาร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" y="1783080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3664" y="1783080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varchar(50)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1783080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1783080"/>
            <a:ext cx="40233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3" y="1783080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รหัสอะไหล่ — business key (Part Number)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2057400"/>
            <a:ext cx="7918704" cy="2743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2057400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3664" y="2057400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varchar(255)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4408" y="2057400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3" y="2057400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ชื่อ/คำอธิบายอะไหล่ (Part Description)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" y="2331720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83664" y="2331720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varchar(100)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4408" y="2331720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5383" y="2331720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หมายเลข Serial (ถ้า track serial)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2606040"/>
            <a:ext cx="7918704" cy="2743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2606040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CatalogueRef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83664" y="2606040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varchar(100)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64408" y="2606040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15383" y="2606040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อ้างอิงหมายเลขใน catalogue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" y="2880360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CategoryId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83664" y="2880360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64408" y="2880360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0752" y="2880360"/>
            <a:ext cx="40233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15383" y="2880360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Category — กลุ่มย่อย (Sub Unit)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" y="3154680"/>
            <a:ext cx="7918704" cy="2743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3154680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MainUnit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83664" y="3154680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varchar(100)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64408" y="3154680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15383" y="3154680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กลุ่มหลัก เช่น Cabinet (Main Unit) — 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" y="3429000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Remark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83664" y="3429000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varchar(500)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64408" y="3429000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15383" y="3429000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หมายเหตุอิสระจาก catalog — NEW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" y="3703320"/>
            <a:ext cx="7918704" cy="2743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" y="3703320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ImagePath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83664" y="3703320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varchar(255)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64408" y="3703320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15383" y="3703320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พาธรูป /uploads/parts/... (Picture) — NEW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" y="3977639"/>
            <a:ext cx="146303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Unit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83664" y="3977639"/>
            <a:ext cx="132588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varchar(20)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64408" y="3977639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15383" y="3977639"/>
            <a:ext cx="39776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หน่วยนับ default "pcs"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3879" y="3191256"/>
            <a:ext cx="310896" cy="16459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83879" y="3191256"/>
            <a:ext cx="310896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79" y="3465576"/>
            <a:ext cx="310896" cy="16459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83879" y="3465576"/>
            <a:ext cx="310896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83879" y="3739896"/>
            <a:ext cx="310896" cy="164592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83879" y="3739896"/>
            <a:ext cx="310896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Primary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89304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00200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Unique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57984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68879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Foreign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81527" y="4846320"/>
            <a:ext cx="2011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Null = nullable column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44568" y="4864608"/>
            <a:ext cx="365760" cy="18288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44568" y="486460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01768" y="4846320"/>
            <a:ext cx="228600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added from GRG catalog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Part — Stock, Cost &amp; Lifecycle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ตาราง Parts (2/2) — สต็อก ต้นทุน และสถานะ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7955279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78408"/>
            <a:ext cx="14813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978408"/>
            <a:ext cx="1344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978408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978408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978408"/>
            <a:ext cx="39959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7955279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23444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StockQuantity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" y="123444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123444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3" y="123444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จำนวนคงเหลือรวมทุกคลัง (denormalized)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1485900"/>
            <a:ext cx="79187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148590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MinStock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" y="148590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148590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5383" y="148590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สต็อกขั้นต่ำ — Below Min (default 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" y="173736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MaxStock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" y="173736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173736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3" y="173736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สต็อกขั้นสูง — Over Max (default 100)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1988820"/>
            <a:ext cx="79187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198882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ReorderPoint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3664" y="198882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4408" y="198882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5383" y="198882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จุดสั่งซื้อใหม่ — Reorder (default 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" y="224028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CostPerUnit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224028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decimal(18,2)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" y="224028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3" y="224028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ต้นทุนต่อหน่วย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2491740"/>
            <a:ext cx="79187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249174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83664" y="249174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4408" y="249174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3" y="249174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อายุสต็อก (จำนวนวัน)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" y="274320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TrackingNumber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83664" y="274320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varchar(100)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4408" y="274320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15383" y="274320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เลขติดตามการขนส่ง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" y="2994660"/>
            <a:ext cx="79187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" y="299466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ExpiryDate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83664" y="299466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datetime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64408" y="299466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15383" y="299466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วันหมดอายุ (โมดูล Disposal)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" y="324612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IsUnrepairable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83664" y="324612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tinyint(1)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64408" y="324612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15383" y="324612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ทำเครื่องหมายซ่อมไม่ได้ (Disposal)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" y="3497580"/>
            <a:ext cx="79187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" y="349758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83664" y="349758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tinyint(1)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64408" y="349758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15383" y="349758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สถานะใช้งาน — false = soft delete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" y="3749039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83664" y="3749039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datetime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64408" y="3749039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15383" y="3749039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เวลาสร้างเรคคอร์ด (UTC)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" y="4000500"/>
            <a:ext cx="7918704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" y="4000500"/>
            <a:ext cx="1463039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UpdatedAt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83664" y="4000500"/>
            <a:ext cx="132588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datetime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4000500"/>
            <a:ext cx="420624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15383" y="4000500"/>
            <a:ext cx="3977640" cy="2514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เวลาแก้ไขล่าสุด (UTC)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Primary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00200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Unique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57984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68879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Foreign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81527" y="4846320"/>
            <a:ext cx="2011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Null = nullable column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44568" y="4864608"/>
            <a:ext cx="365760" cy="18288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44568" y="486460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01768" y="4846320"/>
            <a:ext cx="228600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added from GRG catalog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Category — หมวดหมู่อะไหล่ (Sub Unit)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ตาราง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8412480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1344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115568"/>
            <a:ext cx="1435607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115568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15568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115568"/>
            <a:ext cx="44988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71600"/>
            <a:ext cx="8412480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371600"/>
            <a:ext cx="13258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6504" y="1371600"/>
            <a:ext cx="1417319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1371600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1371600"/>
            <a:ext cx="402336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3" y="1371600"/>
            <a:ext cx="44805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  <a:latin typeface="Calibri"/>
              </a:rPr>
              <a:t>Primary key — auto increment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1755648"/>
            <a:ext cx="8375904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755648"/>
            <a:ext cx="13258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6504" y="1755648"/>
            <a:ext cx="1417319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0D7ED8"/>
                </a:solidFill>
                <a:latin typeface="Consolas"/>
              </a:rPr>
              <a:t>varchar(100)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1755648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1755648"/>
            <a:ext cx="402336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9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3" y="1755648"/>
            <a:ext cx="44805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  <a:latin typeface="Calibri"/>
              </a:rPr>
              <a:t>ชื่อหมวดหมู่ = Sub Unit (ห้ามซ้ำ)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2139696"/>
            <a:ext cx="13258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46504" y="2139696"/>
            <a:ext cx="1417319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0D7ED8"/>
                </a:solidFill>
                <a:latin typeface="Consolas"/>
              </a:rPr>
              <a:t>varchar(500)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8688" y="2139696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9663" y="2139696"/>
            <a:ext cx="44805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  <a:latin typeface="Calibri"/>
              </a:rPr>
              <a:t>รายละเอียดหมวดหมู่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2523744"/>
            <a:ext cx="8375904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2523744"/>
            <a:ext cx="13258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2523744"/>
            <a:ext cx="1417319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0D7ED8"/>
                </a:solidFill>
                <a:latin typeface="Consolas"/>
              </a:rPr>
              <a:t>tinyint(1)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18688" y="2523744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9663" y="2523744"/>
            <a:ext cx="44805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  <a:latin typeface="Calibri"/>
              </a:rPr>
              <a:t>สถานะ — ลบไม่ได้ถ้ามี Part 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" y="2907791"/>
            <a:ext cx="13258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6504" y="2907791"/>
            <a:ext cx="1417319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0D7ED8"/>
                </a:solidFill>
                <a:latin typeface="Consolas"/>
              </a:rPr>
              <a:t>navigation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8688" y="2907791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9663" y="2907791"/>
            <a:ext cx="44805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  <a:latin typeface="Calibri"/>
              </a:rPr>
              <a:t>ความสัมพันธ์ 1:N → Part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3291840"/>
            <a:ext cx="8375904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3291840"/>
            <a:ext cx="13258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E2D40"/>
                </a:solidFill>
                <a:latin typeface="Consolas"/>
              </a:rPr>
              <a:t>partCount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46504" y="3291840"/>
            <a:ext cx="1417319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0D7ED8"/>
                </a:solidFill>
                <a:latin typeface="Consolas"/>
              </a:rPr>
              <a:t>int (computed)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18688" y="3291840"/>
            <a:ext cx="420624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9663" y="3291840"/>
            <a:ext cx="44805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E2D40"/>
                </a:solidFill>
                <a:latin typeface="Calibri"/>
              </a:rPr>
              <a:t>จำนวน Part active (คำนวณที่ API)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3657600"/>
            <a:ext cx="8595360" cy="960120"/>
          </a:xfrm>
          <a:prstGeom prst="roundRect">
            <a:avLst/>
          </a:prstGeom>
          <a:solidFill>
            <a:srgbClr val="EAF6F0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730752"/>
            <a:ext cx="27432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ความสัมพันธ์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50" b="0" i="0">
                <a:solidFill>
                  <a:srgbClr val="1E2D40"/>
                </a:solidFill>
                <a:latin typeface="Calibri"/>
              </a:rPr>
              <a:t>Part.CategoryId → Category.Id   (OnDelete: SetNull)  — เมื่อลบหมวด อะไหล่ไม่ถูกลบ แต่ categoryId กลายเป็น null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Part Configuration — ATM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ตาราง AtmModel + AtmModelPart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36576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0D7ED8"/>
                </a:solidFill>
                <a:latin typeface="Calibri"/>
              </a:rPr>
              <a:t>AtmModel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8321040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138988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188720"/>
            <a:ext cx="12984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188720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188720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88720"/>
            <a:ext cx="44988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44752"/>
            <a:ext cx="8321040" cy="156819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444752"/>
            <a:ext cx="137160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1444752"/>
            <a:ext cx="12801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1444752"/>
            <a:ext cx="420624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1444752"/>
            <a:ext cx="402336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1444752"/>
            <a:ext cx="44805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1668780"/>
            <a:ext cx="8284464" cy="22402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668780"/>
            <a:ext cx="137160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ModelCode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68780"/>
            <a:ext cx="12801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7248" y="1668780"/>
            <a:ext cx="420624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8224" y="1668780"/>
            <a:ext cx="44805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รหัสกลุ่ม/รุ่น (Group Code) เช่น GRG-H22N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1892808"/>
            <a:ext cx="137160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ModelName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4" y="1892808"/>
            <a:ext cx="12801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varchar(150)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1892808"/>
            <a:ext cx="420624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4" y="1892808"/>
            <a:ext cx="44805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ชื่อกลุ่ม/รุ่น (Group Name)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2116836"/>
            <a:ext cx="8284464" cy="22402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2116836"/>
            <a:ext cx="137160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Manufacturer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2224" y="2116836"/>
            <a:ext cx="12801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varchar(100)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2116836"/>
            <a:ext cx="420624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8224" y="2116836"/>
            <a:ext cx="44805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ผู้ผลิต เช่น GRG, NCR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" y="2340864"/>
            <a:ext cx="137160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Description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92224" y="2340864"/>
            <a:ext cx="12801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varchar(500)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7248" y="2340864"/>
            <a:ext cx="420624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8224" y="2340864"/>
            <a:ext cx="44805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รายละเอียด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2564892"/>
            <a:ext cx="8284464" cy="22402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2564892"/>
            <a:ext cx="137160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92224" y="2564892"/>
            <a:ext cx="12801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tinyint(1)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7248" y="2564892"/>
            <a:ext cx="420624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78224" y="2564892"/>
            <a:ext cx="44805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สถานะใช้งาน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" y="2788920"/>
            <a:ext cx="137160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CompatibleParts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92224" y="2788920"/>
            <a:ext cx="12801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navigation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7248" y="2788920"/>
            <a:ext cx="420624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78224" y="2788920"/>
            <a:ext cx="44805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1:N → AtmModelPart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3035808"/>
            <a:ext cx="45720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0D7ED8"/>
                </a:solidFill>
                <a:latin typeface="Calibri"/>
              </a:rPr>
              <a:t>AtmModelPart  (ตารางเชื่อม M:N)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10128"/>
            <a:ext cx="8321040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28416"/>
            <a:ext cx="138988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83080" y="3328416"/>
            <a:ext cx="12984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4680" y="3328416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11880" y="3328416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9080" y="3328416"/>
            <a:ext cx="44988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584448"/>
            <a:ext cx="8321040" cy="67208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" y="3584448"/>
            <a:ext cx="137160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92224" y="3584448"/>
            <a:ext cx="12801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27248" y="3584448"/>
            <a:ext cx="420624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93592" y="3584448"/>
            <a:ext cx="402336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78224" y="3584448"/>
            <a:ext cx="44805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" y="3808476"/>
            <a:ext cx="8284464" cy="22402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3808476"/>
            <a:ext cx="137160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AtmModelId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808476"/>
            <a:ext cx="12801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27248" y="3808476"/>
            <a:ext cx="420624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93592" y="3808476"/>
            <a:ext cx="402336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78224" y="3808476"/>
            <a:ext cx="44805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AtmModel (OnDelete: Cascade)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9184" y="4032504"/>
            <a:ext cx="137160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92224" y="4032504"/>
            <a:ext cx="12801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0D7ED8"/>
                </a:solidFill>
                <a:latin typeface="Consolas"/>
              </a:rPr>
              <a:t>varchar(50)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27248" y="4032504"/>
            <a:ext cx="420624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78224" y="4032504"/>
            <a:ext cx="4480560" cy="2240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อ้างอิง Part.PartNo — UK(AtmModelId, PartNo)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Primary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9304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00200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Unique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57984" y="4846320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68879" y="4846320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Foreign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81527" y="4846320"/>
            <a:ext cx="2011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Null = nullable column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44568" y="4864608"/>
            <a:ext cx="365760" cy="18288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44568" y="486460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01768" y="4846320"/>
            <a:ext cx="228600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added from GRG catalog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Part Configuration — Equivalent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04672"/>
            <a:ext cx="822960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ตาราง EquivalentGroup +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96112"/>
            <a:ext cx="36576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028C9A"/>
                </a:solidFill>
                <a:latin typeface="Calibri"/>
              </a:rPr>
              <a:t>EquivalentGroup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8321040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1435607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88720"/>
            <a:ext cx="12984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188720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88720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188720"/>
            <a:ext cx="44531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44752"/>
            <a:ext cx="8321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444752"/>
            <a:ext cx="141731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7943" y="1444752"/>
            <a:ext cx="12801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1444752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1444752"/>
            <a:ext cx="40233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4" y="1444752"/>
            <a:ext cx="4434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1719072"/>
            <a:ext cx="8284464" cy="2743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719072"/>
            <a:ext cx="141731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37943" y="1719072"/>
            <a:ext cx="12801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0D7ED8"/>
                </a:solidFill>
                <a:latin typeface="Consolas"/>
              </a:rPr>
              <a:t>varchar(150)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2968" y="1719072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4" y="1719072"/>
            <a:ext cx="4434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ชื่อกลุ่มอะไหล่ทดแทน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1993392"/>
            <a:ext cx="141731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37943" y="1993392"/>
            <a:ext cx="12801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0D7ED8"/>
                </a:solidFill>
                <a:latin typeface="Consolas"/>
              </a:rPr>
              <a:t>varchar(500)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2968" y="1993392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NULL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3944" y="1993392"/>
            <a:ext cx="4434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รายละเอียด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2267712"/>
            <a:ext cx="8284464" cy="2743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2267712"/>
            <a:ext cx="141731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7943" y="2267712"/>
            <a:ext cx="12801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0D7ED8"/>
                </a:solidFill>
                <a:latin typeface="Consolas"/>
              </a:rPr>
              <a:t>datetime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72968" y="2267712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23944" y="2267712"/>
            <a:ext cx="4434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เวลาสร้างกลุ่ม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" y="2542032"/>
            <a:ext cx="141731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Members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37943" y="2542032"/>
            <a:ext cx="12801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0D7ED8"/>
                </a:solidFill>
                <a:latin typeface="Consolas"/>
              </a:rPr>
              <a:t>navigation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2968" y="2542032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23944" y="2542032"/>
            <a:ext cx="4434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1:N → EquivalentGroupMember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028C9A"/>
                </a:solidFill>
                <a:latin typeface="Calibri"/>
              </a:rPr>
              <a:t>EquivalentGroupMember  (สมาชิกกลุ่ม)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273552"/>
            <a:ext cx="8321040" cy="27432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291840"/>
            <a:ext cx="1435607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3291840"/>
            <a:ext cx="12984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3291840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3291840"/>
            <a:ext cx="38404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291840"/>
            <a:ext cx="445312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547872"/>
            <a:ext cx="8321040" cy="822959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" y="3547872"/>
            <a:ext cx="141731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37943" y="3547872"/>
            <a:ext cx="12801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72968" y="3547872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9312" y="3547872"/>
            <a:ext cx="40233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23944" y="3547872"/>
            <a:ext cx="4434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" y="3822191"/>
            <a:ext cx="8284464" cy="27432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" y="3822191"/>
            <a:ext cx="141731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GroupId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37943" y="3822191"/>
            <a:ext cx="12801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0D7ED8"/>
                </a:solidFill>
                <a:latin typeface="Consolas"/>
              </a:rPr>
              <a:t>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72968" y="3822191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9312" y="3822191"/>
            <a:ext cx="402336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23944" y="3822191"/>
            <a:ext cx="4434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→ EquivalentGroup (OnDelete: Cascade)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" y="4096511"/>
            <a:ext cx="141731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7943" y="4096511"/>
            <a:ext cx="12801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 i="0">
                <a:solidFill>
                  <a:srgbClr val="0D7ED8"/>
                </a:solidFill>
                <a:latin typeface="Consolas"/>
              </a:rPr>
              <a:t>varchar(50)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72968" y="4096511"/>
            <a:ext cx="42062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9A9A9A"/>
                </a:solidFill>
                <a:latin typeface="Calibri"/>
              </a:rPr>
              <a:t>NOT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23944" y="4096511"/>
            <a:ext cx="44348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1E2D40"/>
                </a:solidFill>
                <a:latin typeface="Calibri"/>
              </a:rPr>
              <a:t>อ้างอิง Part.PartNo — UK(GroupId, PartNo)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4873752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" y="4873752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Primary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9304" y="4873752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00200" y="4873752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Unique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57984" y="4873752"/>
            <a:ext cx="3657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79" y="4873752"/>
            <a:ext cx="10972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Foreign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81527" y="4873752"/>
            <a:ext cx="2011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Null = nullable column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44568" y="4892040"/>
            <a:ext cx="365760" cy="18288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44568" y="4892040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01768" y="4873752"/>
            <a:ext cx="228600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added from GRG catalog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955279" cy="5943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Relationships &amp;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7955279" cy="457200"/>
          </a:xfrm>
          <a:prstGeom prst="rect">
            <a:avLst/>
          </a:prstGeom>
          <a:solidFill>
            <a:srgbClr val="122840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329184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Category  1 : N 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1089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Part.CategoryId → Category.Id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234440"/>
            <a:ext cx="137160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1">
                <a:solidFill>
                  <a:srgbClr val="B0C8E8"/>
                </a:solidFill>
                <a:latin typeface="Calibri"/>
              </a:rPr>
              <a:t>OnDelete SetNull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01368"/>
            <a:ext cx="7955279" cy="457200"/>
          </a:xfrm>
          <a:prstGeom prst="rect">
            <a:avLst/>
          </a:prstGeom>
          <a:solidFill>
            <a:srgbClr val="122840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329184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AtmModel  M : N 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801368"/>
            <a:ext cx="31089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ผ่าน AtmModelPart.PartNo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01368"/>
            <a:ext cx="137160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1">
                <a:solidFill>
                  <a:srgbClr val="B0C8E8"/>
                </a:solidFill>
                <a:latin typeface="Calibri"/>
              </a:rPr>
              <a:t>OnDelete Cascade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68296"/>
            <a:ext cx="7955279" cy="457200"/>
          </a:xfrm>
          <a:prstGeom prst="rect">
            <a:avLst/>
          </a:prstGeom>
          <a:solidFill>
            <a:srgbClr val="122840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68296"/>
            <a:ext cx="329184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EquivalentGroup  M : N 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68296"/>
            <a:ext cx="31089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ผ่าน EquivalentGroupMember.PartNo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368296"/>
            <a:ext cx="137160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50" b="0" i="1">
                <a:solidFill>
                  <a:srgbClr val="B0C8E8"/>
                </a:solidFill>
                <a:latin typeface="Calibri"/>
              </a:rPr>
              <a:t>OnDelete Cascade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457200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Unique Constraints (UK)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01568"/>
            <a:ext cx="7955279" cy="2926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Part.PartNo — รหัสอะไหล่ห้ามซ้ำ (DB index)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12464"/>
            <a:ext cx="7955279" cy="2926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AtmModelPart (AtmModelId, PartNo) — กันใส่อะไหล่ซ้ำในกลุ่ม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7955279" cy="2926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EquivalentGroupMember (GroupId, PartNo) — กันสมาชิกซ้ำ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34256"/>
            <a:ext cx="7955279" cy="2926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Category.Name / Location.Code / Vendor.Code — ตรวจที่ 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36592"/>
            <a:ext cx="8046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หมายเหตุ: ขนาด varchar เป็น design spec สำหรับ MySQL — ปัจจุบันรันบน SQLite (TEXT ไม่จำกัดความยาว)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