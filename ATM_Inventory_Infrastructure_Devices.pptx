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9601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ATM Inventory — Infrastructure (Physical / Network Topology)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03504"/>
            <a:ext cx="114300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อุปกรณ์จริง: เครื่องผู้ใช้ → เครือข่ายองค์กร → ห้อง Server (IIS · MySQL · Storage)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960120"/>
            <a:ext cx="3017520" cy="51206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51560"/>
            <a:ext cx="28346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50" b="1" i="0">
                <a:solidFill>
                  <a:srgbClr val="1C3557"/>
                </a:solidFill>
                <a:latin typeface="Calibri"/>
              </a:rPr>
              <a:t>สำนักงาน / หน้างาน  (Client Devices)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960120"/>
            <a:ext cx="2743200" cy="5120640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B9B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051560"/>
            <a:ext cx="25603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50" b="1" i="0">
                <a:solidFill>
                  <a:srgbClr val="534AB7"/>
                </a:solidFill>
                <a:latin typeface="Calibri"/>
              </a:rPr>
              <a:t>เครือข่ายองค์กร (LAN / Intranet)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960120"/>
            <a:ext cx="5166360" cy="5120640"/>
          </a:xfrm>
          <a:prstGeom prst="roundRect">
            <a:avLst/>
          </a:prstGeom>
          <a:solidFill>
            <a:srgbClr val="ECF4F1"/>
          </a:solidFill>
          <a:ln w="12700">
            <a:solidFill>
              <a:srgbClr val="9C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051560"/>
            <a:ext cx="493776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ห้อง Server / Data Center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1580" y="1554480"/>
            <a:ext cx="1051560" cy="713232"/>
          </a:xfrm>
          <a:prstGeom prst="roundRect">
            <a:avLst/>
          </a:prstGeom>
          <a:solidFill>
            <a:srgbClr val="222A38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5588" y="1618488"/>
            <a:ext cx="923543" cy="585216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36775" y="2267712"/>
            <a:ext cx="201168" cy="109728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2377440"/>
            <a:ext cx="512064" cy="64008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" y="2468880"/>
            <a:ext cx="16459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D40"/>
                </a:solidFill>
                <a:latin typeface="Calibri"/>
              </a:rPr>
              <a:t>Admin PC ×N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" y="2670048"/>
            <a:ext cx="16459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SystemAdmin / Staff / Auditor</a:t>
            </a:r>
          </a:p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Web browser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794760"/>
            <a:ext cx="457200" cy="841248"/>
          </a:xfrm>
          <a:prstGeom prst="roundRect">
            <a:avLst/>
          </a:prstGeom>
          <a:solidFill>
            <a:srgbClr val="222A3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3886200"/>
            <a:ext cx="365760" cy="658368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9576" y="3822192"/>
            <a:ext cx="109728" cy="27432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681728"/>
            <a:ext cx="16459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D40"/>
                </a:solidFill>
                <a:latin typeface="Calibri"/>
              </a:rPr>
              <a:t>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82896"/>
            <a:ext cx="16459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ช่าง (Tech)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794760"/>
            <a:ext cx="457200" cy="841248"/>
          </a:xfrm>
          <a:prstGeom prst="roundRect">
            <a:avLst/>
          </a:prstGeom>
          <a:solidFill>
            <a:srgbClr val="222A3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7400" y="3886200"/>
            <a:ext cx="365760" cy="658368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85416" y="3822192"/>
            <a:ext cx="109728" cy="27432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681728"/>
            <a:ext cx="16459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D40"/>
                </a:solidFill>
                <a:latin typeface="Calibri"/>
              </a:rPr>
              <a:t>Tablet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882896"/>
            <a:ext cx="16459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ช่าง (Tech)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394960"/>
            <a:ext cx="274320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  <a:latin typeface="Calibri"/>
              </a:rPr>
              <a:t>ช่างสร้าง/ติดตาม Ticket + ถ่ายรูป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1600200"/>
            <a:ext cx="2011680" cy="868680"/>
          </a:xfrm>
          <a:prstGeom prst="roundRect">
            <a:avLst/>
          </a:prstGeom>
          <a:solidFill>
            <a:srgbClr val="FFF4E0"/>
          </a:solidFill>
          <a:ln w="222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1645920"/>
            <a:ext cx="201168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E2D40"/>
                </a:solidFill>
                <a:latin typeface="Calibri"/>
              </a:rPr>
              <a:t>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1965960"/>
            <a:ext cx="20116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5A623"/>
                </a:solidFill>
                <a:latin typeface="Calibri"/>
              </a:rPr>
              <a:t>Firewall + SSL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2249424"/>
            <a:ext cx="201168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HTTPS · JWT Bearer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3200400"/>
            <a:ext cx="2011680" cy="822960"/>
          </a:xfrm>
          <a:prstGeom prst="roundRect">
            <a:avLst/>
          </a:prstGeom>
          <a:solidFill>
            <a:srgbClr val="E7ECF2"/>
          </a:solidFill>
          <a:ln w="22225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3246120"/>
            <a:ext cx="201168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E2D40"/>
                </a:solidFill>
                <a:latin typeface="Calibri"/>
              </a:rPr>
              <a:t>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566160"/>
            <a:ext cx="20116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A6778"/>
                </a:solidFill>
                <a:latin typeface="Calibri"/>
              </a:rPr>
              <a:t>Switch / Router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3803904"/>
            <a:ext cx="201168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4206240"/>
            <a:ext cx="1828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  <a:latin typeface="Calibri"/>
              </a:rPr>
              <a:t>Wi-Fi (มือถือ)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1554480"/>
            <a:ext cx="1005840" cy="1463040"/>
          </a:xfrm>
          <a:prstGeom prst="roundRect">
            <a:avLst/>
          </a:prstGeom>
          <a:solidFill>
            <a:srgbClr val="E7ECF2"/>
          </a:solidFill>
          <a:ln w="19050">
            <a:solidFill>
              <a:srgbClr val="1C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1682495"/>
            <a:ext cx="822960" cy="213969"/>
          </a:xfrm>
          <a:prstGeom prst="rect">
            <a:avLst/>
          </a:prstGeom>
          <a:solidFill>
            <a:srgbClr val="D3DAE3"/>
          </a:solidFill>
          <a:ln w="63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37576" y="1700784"/>
            <a:ext cx="45720" cy="45720"/>
          </a:xfrm>
          <a:prstGeom prst="rect">
            <a:avLst/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60920" y="2002536"/>
            <a:ext cx="822960" cy="213969"/>
          </a:xfrm>
          <a:prstGeom prst="rect">
            <a:avLst/>
          </a:prstGeom>
          <a:solidFill>
            <a:srgbClr val="D3DAE3"/>
          </a:solidFill>
          <a:ln w="63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6" y="2020824"/>
            <a:ext cx="45720" cy="45720"/>
          </a:xfrm>
          <a:prstGeom prst="rect">
            <a:avLst/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60920" y="2322576"/>
            <a:ext cx="822960" cy="213969"/>
          </a:xfrm>
          <a:prstGeom prst="rect">
            <a:avLst/>
          </a:prstGeom>
          <a:solidFill>
            <a:srgbClr val="D3DAE3"/>
          </a:solidFill>
          <a:ln w="63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6" y="2340864"/>
            <a:ext cx="45720" cy="45720"/>
          </a:xfrm>
          <a:prstGeom prst="rect">
            <a:avLst/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2642615"/>
            <a:ext cx="822960" cy="213969"/>
          </a:xfrm>
          <a:prstGeom prst="rect">
            <a:avLst/>
          </a:prstGeom>
          <a:solidFill>
            <a:srgbClr val="D3DAE3"/>
          </a:solidFill>
          <a:ln w="63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37576" y="2660903"/>
            <a:ext cx="45720" cy="45720"/>
          </a:xfrm>
          <a:prstGeom prst="rect">
            <a:avLst/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3063239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D40"/>
                </a:solidFill>
                <a:latin typeface="Calibri"/>
              </a:rPr>
              <a:t>Web / App Server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264408"/>
            <a:ext cx="173736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IIS + ASP.NET Core API</a:t>
            </a:r>
          </a:p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(.NET 10, in-process)</a:t>
            </a:r>
          </a:p>
        </p:txBody>
      </p:sp>
      <p:sp>
        <p:nvSpPr>
          <p:cNvPr id="49" name="Can 48"/>
          <p:cNvSpPr/>
          <p:nvPr/>
        </p:nvSpPr>
        <p:spPr>
          <a:xfrm>
            <a:off x="9944100" y="1600200"/>
            <a:ext cx="960120" cy="1143000"/>
          </a:xfrm>
          <a:prstGeom prst="can">
            <a:avLst/>
          </a:prstGeom>
          <a:solidFill>
            <a:srgbClr val="E9F6F4"/>
          </a:solidFill>
          <a:ln w="222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1828800"/>
            <a:ext cx="731520" cy="5486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D9488"/>
                </a:solidFill>
                <a:latin typeface="Calibri"/>
              </a:rPr>
              <a:t>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2761488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D40"/>
                </a:solidFill>
                <a:latin typeface="Calibri"/>
              </a:rPr>
              <a:t>Database Server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2962656"/>
            <a:ext cx="173736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MySQL (production)</a:t>
            </a:r>
          </a:p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FK · concurrency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21240" y="3840480"/>
            <a:ext cx="1005840" cy="1051560"/>
          </a:xfrm>
          <a:prstGeom prst="roundRect">
            <a:avLst/>
          </a:prstGeom>
          <a:solidFill>
            <a:srgbClr val="E7ECF2"/>
          </a:solidFill>
          <a:ln w="190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30967" y="3986784"/>
            <a:ext cx="786384" cy="219456"/>
          </a:xfrm>
          <a:prstGeom prst="rect">
            <a:avLst/>
          </a:prstGeom>
          <a:solidFill>
            <a:srgbClr val="D3DAE3"/>
          </a:solidFill>
          <a:ln w="63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71048" y="4041648"/>
            <a:ext cx="54864" cy="54864"/>
          </a:xfrm>
          <a:prstGeom prst="rect">
            <a:avLst/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30967" y="4297680"/>
            <a:ext cx="786384" cy="219456"/>
          </a:xfrm>
          <a:prstGeom prst="rect">
            <a:avLst/>
          </a:prstGeom>
          <a:solidFill>
            <a:srgbClr val="D3DAE3"/>
          </a:solidFill>
          <a:ln w="63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671048" y="4352544"/>
            <a:ext cx="54864" cy="54864"/>
          </a:xfrm>
          <a:prstGeom prst="rect">
            <a:avLst/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30967" y="4608576"/>
            <a:ext cx="786384" cy="219456"/>
          </a:xfrm>
          <a:prstGeom prst="rect">
            <a:avLst/>
          </a:prstGeom>
          <a:solidFill>
            <a:srgbClr val="D3DAE3"/>
          </a:solidFill>
          <a:ln w="63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71048" y="4663440"/>
            <a:ext cx="54864" cy="54864"/>
          </a:xfrm>
          <a:prstGeom prst="rect">
            <a:avLst/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5480" y="4910327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D40"/>
                </a:solidFill>
                <a:latin typeface="Calibri"/>
              </a:rPr>
              <a:t>File 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5111496"/>
            <a:ext cx="173736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D:\ATMAssets\parts</a:t>
            </a:r>
          </a:p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(รูปอะไหล่ · /assets)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715000"/>
            <a:ext cx="5029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Web + API รันบนเครื่องเดียว (IIS host in-process)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1737360" y="2011680"/>
            <a:ext cx="3291840" cy="457200"/>
          </a:xfrm>
          <a:prstGeom prst="line">
            <a:avLst/>
          </a:prstGeom>
          <a:ln w="28575">
            <a:solidFill>
              <a:srgbClr val="189E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737360" y="3383280"/>
            <a:ext cx="2377440" cy="822960"/>
          </a:xfrm>
          <a:prstGeom prst="line">
            <a:avLst/>
          </a:prstGeom>
          <a:ln w="25400">
            <a:solidFill>
              <a:srgbClr val="0D94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240280" y="3474720"/>
            <a:ext cx="1965960" cy="731520"/>
          </a:xfrm>
          <a:prstGeom prst="line">
            <a:avLst/>
          </a:prstGeom>
          <a:ln w="25400">
            <a:solidFill>
              <a:srgbClr val="0D94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029200" y="2423160"/>
            <a:ext cx="0" cy="777240"/>
          </a:xfrm>
          <a:prstGeom prst="line">
            <a:avLst/>
          </a:prstGeom>
          <a:ln w="28575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035040" y="2286000"/>
            <a:ext cx="1737360" cy="1280160"/>
          </a:xfrm>
          <a:prstGeom prst="line">
            <a:avLst/>
          </a:prstGeom>
          <a:ln w="28575">
            <a:solidFill>
              <a:srgbClr val="5A67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275320" y="2103120"/>
            <a:ext cx="1691640" cy="91440"/>
          </a:xfrm>
          <a:prstGeom prst="line">
            <a:avLst/>
          </a:prstGeom>
          <a:ln w="2857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75320" y="2743200"/>
            <a:ext cx="1691640" cy="1463040"/>
          </a:xfrm>
          <a:prstGeom prst="line">
            <a:avLst/>
          </a:prstGeom>
          <a:ln w="28575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017520" y="1874519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 i="1">
                <a:solidFill>
                  <a:srgbClr val="189E5B"/>
                </a:solidFill>
                <a:latin typeface="Calibri"/>
              </a:rPr>
              <a:t>HTTPS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1828800"/>
            <a:ext cx="11887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 i="1">
                <a:solidFill>
                  <a:srgbClr val="2563EB"/>
                </a:solidFill>
                <a:latin typeface="Calibri"/>
              </a:rPr>
              <a:t>EF Core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3337560"/>
            <a:ext cx="11887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 i="1">
                <a:solidFill>
                  <a:srgbClr val="B45309"/>
                </a:solidFill>
                <a:latin typeface="Calibri"/>
              </a:rPr>
              <a:t>อ่านรูป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263640"/>
            <a:ext cx="1179576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1">
                <a:solidFill>
                  <a:srgbClr val="1C3557"/>
                </a:solidFill>
                <a:latin typeface="Calibri"/>
              </a:rPr>
              <a:t>Deploy: Windows Server + IIS (ASP.NET Core Module) · SSL cert (มีแล้ว) · MySQL · appsettings.Production.json (conn + AssetPath) · CORS จำกัด origin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