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86868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Database Design — Master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03504"/>
            <a:ext cx="109728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ตารางข้อมูลหลัก + คำอธิบายทุก field   ·   เส้น = FK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14400"/>
            <a:ext cx="2468880" cy="1042415"/>
          </a:xfrm>
          <a:prstGeom prst="roundRect">
            <a:avLst/>
          </a:prstGeom>
          <a:solidFill>
            <a:srgbClr val="EEF3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14400"/>
            <a:ext cx="24688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932688"/>
            <a:ext cx="233172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161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16152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2729" y="1216152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 (auto)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403604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036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403604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2729" y="1403604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ชื่อหมวด (Sub Unit)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591056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Description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2729" y="1591056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รายละเอียด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778508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1778508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2729" y="1778508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สถานะใช้งาน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2331720"/>
            <a:ext cx="2468880" cy="1229868"/>
          </a:xfrm>
          <a:prstGeom prst="roundRect">
            <a:avLst/>
          </a:prstGeom>
          <a:solidFill>
            <a:srgbClr val="EEF3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331720"/>
            <a:ext cx="24688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2350008"/>
            <a:ext cx="233172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Vendor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263347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633472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22729" y="2633472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2820924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282092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20924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22729" y="2820924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รหัสผู้ขาย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008376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22729" y="3008376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ชื่อผู้ขาย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195828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195828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VendorType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22729" y="3195828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GRG/LOCAL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383280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ContactInfo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22729" y="3383280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ติดต่อ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040" y="3977639"/>
            <a:ext cx="2468880" cy="1042415"/>
          </a:xfrm>
          <a:prstGeom prst="roundRect">
            <a:avLst/>
          </a:prstGeom>
          <a:solidFill>
            <a:srgbClr val="EEF3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3977639"/>
            <a:ext cx="24688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79" y="3995927"/>
            <a:ext cx="233172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" y="427939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4279392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22729" y="4279392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4466844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446684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466844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22729" y="4466844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รหัสคลัง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654296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22729" y="4654296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ชื่อคลัง/จุดเก็บ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" y="4841748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41748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22729" y="4841748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ประเภท WH/GRG/SCRAP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31920" y="1463040"/>
            <a:ext cx="3200400" cy="2167127"/>
          </a:xfrm>
          <a:prstGeom prst="roundRect">
            <a:avLst/>
          </a:prstGeom>
          <a:solidFill>
            <a:srgbClr val="E3ECFD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31920" y="1463040"/>
            <a:ext cx="320040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59" y="1481328"/>
            <a:ext cx="30632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Part  (ตัวอะไหล่)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95928" y="176479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0" y="1764792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41848" y="1764792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 (auto)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59352" y="1952244"/>
            <a:ext cx="31455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95928" y="195224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0" y="1952244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41848" y="1952244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รหัสอะไหล่ (business key)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2139696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2139696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ชื่อ/คำอธิบาย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9352" y="2327148"/>
            <a:ext cx="31455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95928" y="2327148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97680" y="2327148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CategoryId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41848" y="2327148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Category (Sub Unit)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97680" y="2514600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Unit / MainUnit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41848" y="2514600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หน่วย / กลุ่มหลัก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59352" y="2702052"/>
            <a:ext cx="31455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2702052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Min/Max/Reorder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41848" y="2702052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นโยบายสต็อก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97680" y="2889504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CostPerUnit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41848" y="2889504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ต้นทุน/หน่วย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59352" y="3076956"/>
            <a:ext cx="31455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97680" y="3076956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ImagePath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1848" y="3076956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พาธรูป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97680" y="3264408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41848" y="3264408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สถานะ (soft delete)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59352" y="3451860"/>
            <a:ext cx="31455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80" y="3451860"/>
            <a:ext cx="134416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RowVersion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41848" y="3451860"/>
            <a:ext cx="144475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กันแก้ทับ (concurrency)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863840" y="914400"/>
            <a:ext cx="3931920" cy="1229868"/>
          </a:xfrm>
          <a:prstGeom prst="roundRect">
            <a:avLst/>
          </a:prstGeom>
          <a:solidFill>
            <a:srgbClr val="F0EFFA"/>
          </a:solidFill>
          <a:ln w="15875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863840" y="914400"/>
            <a:ext cx="3931920" cy="274320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55279" y="932688"/>
            <a:ext cx="3794759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AtmModel  (ATM Group)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27848" y="12161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0" y="1216152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81006" y="1216152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1271" y="1403604"/>
            <a:ext cx="387705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29600" y="1403604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ModelCode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81006" y="1403604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รหัสกลุ่ม/รุ่น (Group Code)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0" y="1591056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ModelName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81006" y="1591056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ชื่อกลุ่ม/รุ่น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91271" y="1778508"/>
            <a:ext cx="387705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29600" y="1778508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Manufacturer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81006" y="1778508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ผู้ผลิต GRG/NCR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29600" y="1965960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IsActive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81006" y="1965960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สถานะ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7863840" y="2423160"/>
            <a:ext cx="3931920" cy="1042415"/>
          </a:xfrm>
          <a:prstGeom prst="roundRect">
            <a:avLst/>
          </a:prstGeom>
          <a:solidFill>
            <a:srgbClr val="F0EFFA"/>
          </a:solidFill>
          <a:ln w="15875">
            <a:solidFill>
              <a:srgbClr val="534A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863840" y="2423160"/>
            <a:ext cx="3931920" cy="274320"/>
          </a:xfrm>
          <a:prstGeom prst="rect">
            <a:avLst/>
          </a:prstGeom>
          <a:solidFill>
            <a:srgbClr val="534A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955279" y="2441448"/>
            <a:ext cx="3794759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AtmModelPart  (กลุ่ม↔อะไหล่)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27848" y="272491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29600" y="2724912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81006" y="2724912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1271" y="2912364"/>
            <a:ext cx="387705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27848" y="291236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0" y="2912364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AtmModelId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881006" y="2912364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AtmModel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27848" y="309981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229600" y="3099816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81006" y="3099816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91271" y="3287268"/>
            <a:ext cx="387705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229600" y="3287268"/>
            <a:ext cx="1651406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81006" y="3287268"/>
            <a:ext cx="1869033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snapshot — UK(Model,Part)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863840" y="3886200"/>
            <a:ext cx="1874519" cy="854964"/>
          </a:xfrm>
          <a:prstGeom prst="roundRect">
            <a:avLst/>
          </a:prstGeom>
          <a:solidFill>
            <a:srgbClr val="E9F6F4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863840" y="3886200"/>
            <a:ext cx="1874519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955279" y="3904487"/>
            <a:ext cx="173736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EquivalentGroup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27848" y="41879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229600" y="4187952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16898" y="4187952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891271" y="4375404"/>
            <a:ext cx="1819655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29600" y="4375404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016898" y="4375404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ชื่อกลุ่มทดแทน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29600" y="4562856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CreatedAt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16898" y="4562856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เวลาสร้าง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921240" y="3886200"/>
            <a:ext cx="1874519" cy="1042415"/>
          </a:xfrm>
          <a:prstGeom prst="roundRect">
            <a:avLst/>
          </a:prstGeom>
          <a:solidFill>
            <a:srgbClr val="E9F6F4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921240" y="3886200"/>
            <a:ext cx="1874519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012680" y="3904487"/>
            <a:ext cx="173736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EquivGroupMember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85248" y="41879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87000" y="4187952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74298" y="4187952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948672" y="4375404"/>
            <a:ext cx="1819655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985248" y="43754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87000" y="4375404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GroupId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074298" y="4375404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Group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985248" y="456285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4562856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74298" y="4562856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48672" y="4750308"/>
            <a:ext cx="1819655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287000" y="4750308"/>
            <a:ext cx="78729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74298" y="4750308"/>
            <a:ext cx="675741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snapshot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2788920" y="1435607"/>
            <a:ext cx="1143000" cy="1110997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086100" y="1881378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9829800" y="2144268"/>
            <a:ext cx="0" cy="278892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9555480" y="2173985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47" name="Connector 146"/>
          <p:cNvCxnSpPr/>
          <p:nvPr/>
        </p:nvCxnSpPr>
        <p:spPr>
          <a:xfrm flipH="1" flipV="1">
            <a:off x="7132320" y="2546604"/>
            <a:ext cx="731520" cy="397764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7223759" y="2635758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N:1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9738359" y="4313682"/>
            <a:ext cx="182881" cy="93726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9555480" y="4250817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51" name="Connector 150"/>
          <p:cNvCxnSpPr/>
          <p:nvPr/>
        </p:nvCxnSpPr>
        <p:spPr>
          <a:xfrm flipH="1" flipV="1">
            <a:off x="7132320" y="2546604"/>
            <a:ext cx="2788920" cy="1860804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8252459" y="3367278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N:1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8368" y="6519672"/>
            <a:ext cx="10287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69948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62556" y="6519672"/>
            <a:ext cx="6858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031235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323843" y="6519672"/>
            <a:ext cx="10287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35423" y="6519672"/>
            <a:ext cx="45720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●—▶ = ความสัมพันธ์ 1 : N  (วงกลม=ฝั่ง 1, หัวลูกศร=ฝั่ง 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86868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Database Design — Stock &amp;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03504"/>
            <a:ext cx="109728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สต็อกต่อคลัง · ชิ้นซีเรียล · บัญชีเคลื่อนไหว   ·   เส้น = FK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2468880" cy="1042415"/>
          </a:xfrm>
          <a:prstGeom prst="roundRect">
            <a:avLst/>
          </a:prstGeom>
          <a:solidFill>
            <a:srgbClr val="E3ECFD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24688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33172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5877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7752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8449" y="2587752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รหัสอะไหล่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" y="2775204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752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75204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8449" y="2775204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 (business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62656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8449" y="2962656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" y="3150108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50108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(ยอด)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8449" y="3150108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= SUM(PartStock.GoodQty)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572000"/>
            <a:ext cx="2468880" cy="854964"/>
          </a:xfrm>
          <a:prstGeom prst="roundRect">
            <a:avLst/>
          </a:prstGeom>
          <a:solidFill>
            <a:srgbClr val="E3ECFD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572000"/>
            <a:ext cx="246888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90288"/>
            <a:ext cx="233172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48737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73752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8449" y="4873752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รหัสคลัง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5061204"/>
            <a:ext cx="241401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50612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061204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8449" y="5061204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48656"/>
            <a:ext cx="1036929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8449" y="5248656"/>
            <a:ext cx="102047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ชื่อคลัง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1880" y="1280160"/>
            <a:ext cx="2743200" cy="1792224"/>
          </a:xfrm>
          <a:prstGeom prst="roundRect">
            <a:avLst/>
          </a:prstGeom>
          <a:solidFill>
            <a:srgbClr val="E9F6F4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11880" y="1280160"/>
            <a:ext cx="2743200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03320" y="129844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PartStock  (ยอดในคลัง)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5888" y="158191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40" y="158191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9784" y="158191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39312" y="176936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5888" y="176936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176936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9784" y="176936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75888" y="195681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40" y="195681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195681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Location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39312" y="214426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77640" y="214426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GoodQty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784" y="214426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จำนวนสภาพดี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233172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DefectiveQty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784" y="233172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จำนวนเสีย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39312" y="2519172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77640" y="251917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UpdatedAt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29784" y="251917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เวลายอดเปลี่ยน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40" y="270662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RowVersion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9784" y="270662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กันยอดทับ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39312" y="2894076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77640" y="289407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UQ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9784" y="289407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(PartId,LocationId)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11880" y="4297680"/>
            <a:ext cx="2743200" cy="1604772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11880" y="4297680"/>
            <a:ext cx="27432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03320" y="431596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PartUnit  (ชิ้นซีเรียล)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5888" y="459943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40" y="459943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9784" y="459943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39312" y="478688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75888" y="478688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977640" y="478688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9784" y="478688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75888" y="497433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77640" y="497433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9784" y="497433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Location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39312" y="516178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888" y="5161788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77640" y="516178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9784" y="516178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ซีเรียล (ห้ามซ้ำ)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40" y="534924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4924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Good/Defective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39312" y="5536692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77640" y="553669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ExpiryDate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9784" y="553669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วันหมดอายุ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977640" y="572414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29784" y="572414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InStock/Issued/Disposed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132320" y="1828800"/>
            <a:ext cx="4663440" cy="2354579"/>
          </a:xfrm>
          <a:prstGeom prst="roundRect">
            <a:avLst/>
          </a:prstGeom>
          <a:solidFill>
            <a:srgbClr val="E9F6F4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132320" y="1828800"/>
            <a:ext cx="4663440" cy="274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23759" y="1847088"/>
            <a:ext cx="4526279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StockMovement  (Ledger — บันทึกทุกการขยับ)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96328" y="21305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98079" y="2130552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56724" y="2130552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59752" y="2318004"/>
            <a:ext cx="460857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498079" y="2318004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MovementType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456724" y="2318004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GR/Issue/Return/Transfer/Disposal/Adjust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96328" y="250545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98079" y="2505456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56724" y="2505456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 (Restrict)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59752" y="2692908"/>
            <a:ext cx="460857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98079" y="2692908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PartNo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56724" y="2692908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snapshot ของ PartNo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96328" y="2880360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98079" y="2880360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PartUnitId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56724" y="2880360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PartUnit (ชิ้นซีเรียล ถ้ามี)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59752" y="3067812"/>
            <a:ext cx="460857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8079" y="3067812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From/ToLocationId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56724" y="3067812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คลังออก/เข้า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98079" y="3255264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Qty / Condition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456724" y="3255264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จำนวน / สภาพ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159752" y="3442716"/>
            <a:ext cx="460857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98079" y="3442716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RefType / RefId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56724" y="3442716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อ้างเอกสารต้นทาง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98079" y="3630168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Cost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456724" y="3630168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ต้นทุน ณ ตอนขยับ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159752" y="3817620"/>
            <a:ext cx="460857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498079" y="3817620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UserName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56724" y="3817620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ใครทำ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79" y="4005072"/>
            <a:ext cx="19586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Timestamp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56724" y="4005072"/>
            <a:ext cx="229331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เมื่อไหร่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2834640" y="2176272"/>
            <a:ext cx="777240" cy="630936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2948940" y="2382011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834640" y="2176272"/>
            <a:ext cx="777240" cy="2823210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2948940" y="3478149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2834640" y="2807208"/>
            <a:ext cx="777240" cy="2292858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2948940" y="3843909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2834640" y="4999482"/>
            <a:ext cx="777240" cy="100584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2948940" y="4940046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2834640" y="2807208"/>
            <a:ext cx="4297680" cy="198881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4709160" y="2796921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26" name="Connector 125"/>
          <p:cNvCxnSpPr/>
          <p:nvPr/>
        </p:nvCxnSpPr>
        <p:spPr>
          <a:xfrm flipV="1">
            <a:off x="6355080" y="3006089"/>
            <a:ext cx="777240" cy="2093977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6469380" y="3943350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8368" y="6519672"/>
            <a:ext cx="10287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Primary Key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69948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534AB7"/>
                </a:solidFill>
                <a:latin typeface="Calibri"/>
              </a:rPr>
              <a:t>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62556" y="6519672"/>
            <a:ext cx="6858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Unique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031235" y="6519672"/>
            <a:ext cx="32004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23843" y="6519672"/>
            <a:ext cx="10287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Foreign Key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535423" y="6519672"/>
            <a:ext cx="4572000" cy="20116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●—▶ = ความสัมพันธ์ 1 : N  (วงกลม=ฝั่ง 1, หัวลูกศร=ฝั่ง 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1C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2743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86868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Database Design — Transactions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603504"/>
            <a:ext cx="1097280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รับเข้า · เบิก/คืน · โอน · นับสต็อก · ทำลาย   ·   ทุกตารางอ้าง Part ด้วย FK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914400"/>
            <a:ext cx="2743200" cy="1417320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14400"/>
            <a:ext cx="27432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93268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GoodsReceipt  (ใบรับเข้า)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2161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21615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21615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40360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0360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ReceiptNo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37943" y="140360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เลขใบรับ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59105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7943" y="159105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GRG/LocalVendor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77850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1778508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77850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VendorId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7943" y="177850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Vendor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1965960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196596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7943" y="196596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Location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2153412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15341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HandlingCost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7943" y="215341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ค่าจัดการ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3017520"/>
            <a:ext cx="2743200" cy="1229868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3017520"/>
            <a:ext cx="27432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79" y="303580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GoodsReceiptLine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331927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1927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37943" y="331927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50672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50672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50672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GoodsReceiptId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37943" y="350672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GoodsReceipt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369417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369417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37943" y="369417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388162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8162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Qty / Condition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37943" y="388162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จำนวน/สภาพ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06908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37943" y="406908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ซีเรียล (→ สร้าง PartUnit)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" y="4846320"/>
            <a:ext cx="2743200" cy="1229868"/>
          </a:xfrm>
          <a:prstGeom prst="roundRect">
            <a:avLst/>
          </a:prstGeom>
          <a:solidFill>
            <a:srgbClr val="EAF6F0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4846320"/>
            <a:ext cx="274320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79" y="4864607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Ticket  (ใบเบิก)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514807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14807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37943" y="514807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533552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3552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Tech...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7943" y="533552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ข้อมูลช่าง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52297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Req/ApprovedPartNo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37943" y="552297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อะไหล่ที่ขอ/อนุมัติ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571042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71042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7943" y="571042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Pending/Approved/...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89788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AttachmentPath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37943" y="589788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รูปอาการเสีย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429000" y="4846320"/>
            <a:ext cx="2743200" cy="1229868"/>
          </a:xfrm>
          <a:prstGeom prst="roundRect">
            <a:avLst/>
          </a:prstGeom>
          <a:solidFill>
            <a:srgbClr val="EAF6F0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29000" y="4846320"/>
            <a:ext cx="274320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20440" y="4864607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ReturnRequest  (คืน)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514807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94760" y="514807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46904" y="514807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56432" y="533552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93008" y="533552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94760" y="533552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TicketId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46904" y="533552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Ticket (บังคับ)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93008" y="552297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552297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46904" y="552297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56432" y="571042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794760" y="571042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Condition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46904" y="571042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สภาพที่คืน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589788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 From/To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46904" y="589788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ต้นทาง/ปลายทาง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0" y="914400"/>
            <a:ext cx="2743200" cy="1229868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00800" y="914400"/>
            <a:ext cx="27432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92240" y="93268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StockTransfer  (โอน)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64808" y="12161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121615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18704" y="121615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28232" y="140360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64808" y="14036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0" y="140360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918704" y="140360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60" y="159105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Qty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18704" y="159105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จำนวน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28232" y="177850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0" y="177850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From/ToLocationId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18704" y="177850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คลังต้นทาง/ปลายทาง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66560" y="196596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18704" y="196596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Pending→Received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400800" y="3017520"/>
            <a:ext cx="2743200" cy="1417320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00800" y="3017520"/>
            <a:ext cx="27432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92240" y="3035808"/>
            <a:ext cx="26060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DisposalRequest  (ทำลาย)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64808" y="331927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66560" y="331927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18704" y="331927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428232" y="3506724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64808" y="350672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3506724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18704" y="3506724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766560" y="3694176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SerialNo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18704" y="3694176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ซีเรียล (→ unit Disposed)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28232" y="3881628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766560" y="3881628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LocationId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18704" y="3881628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คลัง (ปกติ Scrap)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766560" y="4069080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ReasonCode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18704" y="4069080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เหตุผล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428232" y="4256532"/>
            <a:ext cx="26883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766560" y="4256532"/>
            <a:ext cx="1152144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18704" y="4256532"/>
            <a:ext cx="1179575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Pending/Approved/Disposed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372600" y="914400"/>
            <a:ext cx="2514600" cy="1042415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372600" y="914400"/>
            <a:ext cx="25146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64040" y="932688"/>
            <a:ext cx="23774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StockCount  (นับสต็อก)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12161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738360" y="1216152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794492" y="1216152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400032" y="1403604"/>
            <a:ext cx="24597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38360" y="1403604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CountType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794492" y="1403604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Cycle/Annual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38360" y="1591056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Period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794492" y="1591056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งวด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400032" y="1778508"/>
            <a:ext cx="24597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738360" y="1778508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Status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94492" y="1778508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Draft/.../Completed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372600" y="2743200"/>
            <a:ext cx="2514600" cy="1229868"/>
          </a:xfrm>
          <a:prstGeom prst="roundRect">
            <a:avLst/>
          </a:prstGeom>
          <a:solidFill>
            <a:srgbClr val="FBF1E7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372600" y="2743200"/>
            <a:ext cx="2514600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464040" y="2761488"/>
            <a:ext cx="2377440" cy="24688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StockCountLine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436608" y="3044952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D85A30"/>
                </a:solidFill>
                <a:latin typeface="Calibri"/>
              </a:rPr>
              <a:t>PK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3044952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1" i="0">
                <a:solidFill>
                  <a:srgbClr val="1E2D40"/>
                </a:solidFill>
                <a:latin typeface="Consolas"/>
              </a:rPr>
              <a:t>Id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94492" y="3044952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รหัส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400032" y="3232404"/>
            <a:ext cx="24597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436608" y="3232404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738360" y="3232404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StockCountId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94492" y="3232404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StockCount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436608" y="3419856"/>
            <a:ext cx="274320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650" b="1" i="0">
                <a:solidFill>
                  <a:srgbClr val="059669"/>
                </a:solidFill>
                <a:latin typeface="Calibri"/>
              </a:rPr>
              <a:t>FK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738360" y="3419856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PartId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794492" y="3419856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→ Part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400032" y="3607308"/>
            <a:ext cx="2459736" cy="187452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738360" y="3607308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System/PhysicalQty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94492" y="3607308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ยอดระบบ/นับจริง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38360" y="3794760"/>
            <a:ext cx="1056132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800" b="0" i="0">
                <a:solidFill>
                  <a:srgbClr val="1E2D40"/>
                </a:solidFill>
                <a:latin typeface="Consolas"/>
              </a:rPr>
              <a:t>Variance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794492" y="3794760"/>
            <a:ext cx="1046988" cy="18745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0" i="0">
                <a:solidFill>
                  <a:srgbClr val="6B7280"/>
                </a:solidFill>
                <a:latin typeface="Calibri"/>
              </a:rPr>
              <a:t>ผลต่าง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0040" y="6446520"/>
            <a:ext cx="1152144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850" b="0" i="1">
                <a:solidFill>
                  <a:srgbClr val="0D9488"/>
                </a:solidFill>
                <a:latin typeface="Calibri"/>
              </a:rPr>
              <a:t>หมายเหตุ: ทุกตารางในหน้านี้เชื่อม Part ด้วย FK PartId (เก็บ PartNo เป็น snapshot) — ดูตาราง Part ในสไลด์ Master Data / Stock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691640" y="2331720"/>
            <a:ext cx="0" cy="685800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1417320" y="2564891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3063240" y="5461254"/>
            <a:ext cx="365760" cy="0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2971800" y="5351526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10629900" y="1956815"/>
            <a:ext cx="0" cy="786385"/>
          </a:xfrm>
          <a:prstGeom prst="bentConnector3">
            <a:avLst/>
          </a:prstGeom>
          <a:ln w="20320">
            <a:solidFill>
              <a:srgbClr val="647480"/>
            </a:solidFill>
            <a:headEnd type="oval" w="med" len="med"/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10355580" y="2240279"/>
            <a:ext cx="64008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750" b="1" i="1">
                <a:solidFill>
                  <a:srgbClr val="647480"/>
                </a:solidFill>
                <a:latin typeface="Calibri"/>
              </a:rPr>
              <a:t>1:N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