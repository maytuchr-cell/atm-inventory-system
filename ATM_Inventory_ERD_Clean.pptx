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6868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Database Design — Master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03504"/>
            <a:ext cx="11430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ตารางข้อมูลหลัก + field สำคัญพร้อมคำอธิบาย   ·   field เต็มดูใน Data Dictionary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48840"/>
            <a:ext cx="3200400" cy="1741932"/>
          </a:xfrm>
          <a:prstGeom prst="roundRect">
            <a:avLst/>
          </a:prstGeom>
          <a:solidFill>
            <a:srgbClr val="E3ECFD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3200400" cy="2834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67128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Part  (ตัวอะไหล่)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45973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5973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245973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 (auto)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2665476"/>
            <a:ext cx="314553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66547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6547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266547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รหัสอะไหล่ (business 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87121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287121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ชื่อ/คำอธิบาย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" y="3076956"/>
            <a:ext cx="314553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07695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07695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CategoryId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07695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Category (Sub Unit)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8269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Unit / MainUnit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8256" y="328269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หน่วย / กลุ่มหลัก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" y="3488436"/>
            <a:ext cx="314553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48843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Min/Max/Reorder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48256" y="348843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นโยบายสต็อก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69417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IsActive / RowVersion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48256" y="369417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สถานะ / กันแก้ทับ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868680"/>
            <a:ext cx="3200400" cy="918972"/>
          </a:xfrm>
          <a:prstGeom prst="roundRect">
            <a:avLst/>
          </a:prstGeom>
          <a:solidFill>
            <a:srgbClr val="F0EFFA"/>
          </a:solidFill>
          <a:ln w="158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868680"/>
            <a:ext cx="3200400" cy="283464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886968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117957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117957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8256" y="117957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" y="1385316"/>
            <a:ext cx="314553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138531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138531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48256" y="138531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ชื่อหมวด (Sub Unit)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159105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48256" y="159105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สถานะ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868680"/>
            <a:ext cx="3154680" cy="1124712"/>
          </a:xfrm>
          <a:prstGeom prst="roundRect">
            <a:avLst/>
          </a:prstGeom>
          <a:solidFill>
            <a:srgbClr val="F0EFFA"/>
          </a:solidFill>
          <a:ln w="158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6800" y="868680"/>
            <a:ext cx="3154680" cy="283464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886968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AtmModel (ATM Group)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9952" y="117957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89136" y="1179576"/>
            <a:ext cx="126187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51008" y="1179576"/>
            <a:ext cx="1453895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14232" y="1385316"/>
            <a:ext cx="30998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89136" y="1385316"/>
            <a:ext cx="126187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ModelCode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51008" y="1385316"/>
            <a:ext cx="1453895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รหัสกลุ่ม (Group Code)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89136" y="1591056"/>
            <a:ext cx="126187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ModelName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51008" y="1591056"/>
            <a:ext cx="1453895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ชื่อกลุ่ม/รุ่น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14232" y="1796796"/>
            <a:ext cx="30998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9136" y="1796796"/>
            <a:ext cx="126187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Manufacturer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51008" y="1796796"/>
            <a:ext cx="1453895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ผู้ผลิต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12080" y="2286000"/>
            <a:ext cx="2926080" cy="1124712"/>
          </a:xfrm>
          <a:prstGeom prst="roundRect">
            <a:avLst/>
          </a:prstGeom>
          <a:solidFill>
            <a:srgbClr val="E9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12080" y="2286000"/>
            <a:ext cx="2926080" cy="2834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0" y="2304288"/>
            <a:ext cx="27889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AtmModelPart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85232" y="25968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14416" y="2596896"/>
            <a:ext cx="117043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4848" y="2596896"/>
            <a:ext cx="131673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39512" y="2802636"/>
            <a:ext cx="28712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85232" y="280263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14416" y="2802636"/>
            <a:ext cx="117043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AtmModelId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84848" y="2802636"/>
            <a:ext cx="131673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AtmModel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5232" y="300837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14416" y="3008376"/>
            <a:ext cx="117043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4848" y="3008376"/>
            <a:ext cx="131673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Part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39512" y="3214116"/>
            <a:ext cx="28712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14416" y="3214116"/>
            <a:ext cx="117043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84848" y="3214116"/>
            <a:ext cx="131673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snapshot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86800" y="4160520"/>
            <a:ext cx="3154680" cy="918972"/>
          </a:xfrm>
          <a:prstGeom prst="roundRect">
            <a:avLst/>
          </a:prstGeom>
          <a:solidFill>
            <a:srgbClr val="F0EFFA"/>
          </a:solidFill>
          <a:ln w="158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686800" y="4160520"/>
            <a:ext cx="3154680" cy="283464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78240" y="4178807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EquivalentGroup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59952" y="447141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89136" y="4471416"/>
            <a:ext cx="126187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51008" y="4471416"/>
            <a:ext cx="1453895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14232" y="4677155"/>
            <a:ext cx="30998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89136" y="4677155"/>
            <a:ext cx="126187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51008" y="4677155"/>
            <a:ext cx="1453895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ชื่อกลุ่มอะไหล่ทดแทน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89136" y="4882895"/>
            <a:ext cx="126187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51008" y="4882895"/>
            <a:ext cx="1453895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เวลาสร้าง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212080" y="4160520"/>
            <a:ext cx="2926080" cy="1124712"/>
          </a:xfrm>
          <a:prstGeom prst="roundRect">
            <a:avLst/>
          </a:prstGeom>
          <a:solidFill>
            <a:srgbClr val="E9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212080" y="4160520"/>
            <a:ext cx="2926080" cy="2834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03520" y="4178807"/>
            <a:ext cx="27889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EquivGroupMember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85232" y="447141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14416" y="4471416"/>
            <a:ext cx="117043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84848" y="4471416"/>
            <a:ext cx="131673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39512" y="4677155"/>
            <a:ext cx="28712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85232" y="4677155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14416" y="4677155"/>
            <a:ext cx="117043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GroupId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84848" y="4677155"/>
            <a:ext cx="131673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EquivalentGroup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85232" y="4882895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14416" y="4882895"/>
            <a:ext cx="117043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84848" y="4882895"/>
            <a:ext cx="131673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Part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39512" y="5088635"/>
            <a:ext cx="28712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614416" y="5088635"/>
            <a:ext cx="117043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84848" y="5088635"/>
            <a:ext cx="131673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snapshot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65760" y="4572000"/>
            <a:ext cx="3200400" cy="918972"/>
          </a:xfrm>
          <a:prstGeom prst="roundRect">
            <a:avLst/>
          </a:prstGeom>
          <a:solidFill>
            <a:srgbClr val="5A6778"/>
          </a:solidFill>
          <a:ln w="15875">
            <a:solidFill>
              <a:srgbClr val="EEF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65760" y="4572000"/>
            <a:ext cx="3200400" cy="283464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" y="4590288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Vendor  (ใช้ใน Goods Receipt)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8912" y="48828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8096" y="488289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48256" y="488289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93192" y="5088636"/>
            <a:ext cx="314553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38912" y="508863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8096" y="5088636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Code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48256" y="5088636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รหัสผู้ขาย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8096" y="5294375"/>
            <a:ext cx="1280160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VendorType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048256" y="5294375"/>
            <a:ext cx="148132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GRG/LOCAL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965960" y="1787652"/>
            <a:ext cx="0" cy="361188"/>
          </a:xfrm>
          <a:prstGeom prst="line">
            <a:avLst/>
          </a:prstGeom>
          <a:ln w="22225">
            <a:solidFill>
              <a:srgbClr val="5A6778"/>
            </a:solidFill>
            <a:headEnd type="oval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566160" y="2848356"/>
            <a:ext cx="1645920" cy="171450"/>
          </a:xfrm>
          <a:prstGeom prst="line">
            <a:avLst/>
          </a:prstGeom>
          <a:ln w="22225">
            <a:solidFill>
              <a:srgbClr val="5A6778"/>
            </a:solidFill>
            <a:headEnd type="oval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8138160" y="1431036"/>
            <a:ext cx="548640" cy="1417320"/>
          </a:xfrm>
          <a:prstGeom prst="line">
            <a:avLst/>
          </a:prstGeom>
          <a:ln w="22225">
            <a:solidFill>
              <a:srgbClr val="5A6778"/>
            </a:solidFill>
            <a:headEnd type="oval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566160" y="3019806"/>
            <a:ext cx="1645920" cy="1703070"/>
          </a:xfrm>
          <a:prstGeom prst="line">
            <a:avLst/>
          </a:prstGeom>
          <a:ln w="22225">
            <a:solidFill>
              <a:srgbClr val="5A6778"/>
            </a:solidFill>
            <a:headEnd type="oval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8138160" y="4620006"/>
            <a:ext cx="548640" cy="102870"/>
          </a:xfrm>
          <a:prstGeom prst="line">
            <a:avLst/>
          </a:prstGeom>
          <a:ln w="22225">
            <a:solidFill>
              <a:srgbClr val="5A6778"/>
            </a:solidFill>
            <a:headEnd type="oval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65760" y="6547104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58368" y="6547104"/>
            <a:ext cx="998524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94052" y="6547104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086660" y="6547104"/>
            <a:ext cx="6693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893161" y="6547104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185769" y="6547104"/>
            <a:ext cx="998524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321454" y="6547104"/>
            <a:ext cx="50292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1">
                <a:solidFill>
                  <a:srgbClr val="5A6778"/>
                </a:solidFill>
                <a:latin typeface="Calibri"/>
              </a:rPr>
              <a:t>ความสัมพันธ์ 1 : N   ●────▶   (วงกลม = ฝั่ง 1 / หัวลูกศร = ฝั่ง 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6868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Database Design — Stock &amp;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03504"/>
            <a:ext cx="11430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สต็อกต่อคลัง · ชิ้นซีเรียล · บัญชีเคลื่อนไหว (Ledger)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651760"/>
            <a:ext cx="2651760" cy="1124712"/>
          </a:xfrm>
          <a:prstGeom prst="roundRect">
            <a:avLst/>
          </a:prstGeom>
          <a:solidFill>
            <a:srgbClr val="E3ECFD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651760"/>
            <a:ext cx="2651760" cy="2834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70048"/>
            <a:ext cx="25146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96265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962656"/>
            <a:ext cx="106070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62656"/>
            <a:ext cx="115214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3168396"/>
            <a:ext cx="25968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1683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168396"/>
            <a:ext cx="106070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68396"/>
            <a:ext cx="115214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รหัสอะไหล่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374136"/>
            <a:ext cx="106070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74136"/>
            <a:ext cx="115214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ชื่อ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" y="3579876"/>
            <a:ext cx="25968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79876"/>
            <a:ext cx="106070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(ยอด)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579876"/>
            <a:ext cx="115214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= SUM(PartStock)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914400"/>
            <a:ext cx="3840480" cy="1330452"/>
          </a:xfrm>
          <a:prstGeom prst="roundRect">
            <a:avLst/>
          </a:prstGeom>
          <a:solidFill>
            <a:srgbClr val="E9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914400"/>
            <a:ext cx="3840480" cy="2834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932688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PartStock  (ยอดในคลัง)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12252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122529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122529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9432" y="1431036"/>
            <a:ext cx="37856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143103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336" y="143103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143103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Part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163677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4336" y="163677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163677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Location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9432" y="1842516"/>
            <a:ext cx="37856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184251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GoodQty / DefectiveQty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184251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ดี / เสีย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204825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UpdatedAt / RowVersion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204825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เวลายอด / กันทับ · UQ(Part,Loc)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2880360"/>
            <a:ext cx="3840480" cy="1330452"/>
          </a:xfrm>
          <a:prstGeom prst="roundRect">
            <a:avLst/>
          </a:prstGeom>
          <a:solidFill>
            <a:srgbClr val="FBF1E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2880360"/>
            <a:ext cx="3840480" cy="2834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2898648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PartUnit  (ชิ้นซีเรียล)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319125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74336" y="319125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319125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99432" y="3396996"/>
            <a:ext cx="37856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2" y="33969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74336" y="339699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339699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Part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5152" y="360273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74336" y="360273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360273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Location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99432" y="3808476"/>
            <a:ext cx="37856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5152" y="380847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4336" y="380847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0528" y="380847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ซีเรียล (ห้ามซ้ำ)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74336" y="4014215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Condition / Status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4014215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สภาพ / InStock·Issued·Disposed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0" y="4800600"/>
            <a:ext cx="3840480" cy="1330452"/>
          </a:xfrm>
          <a:prstGeom prst="roundRect">
            <a:avLst/>
          </a:prstGeom>
          <a:solidFill>
            <a:srgbClr val="E9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4800600"/>
            <a:ext cx="3840480" cy="2834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0" y="4818888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StockMovement  (Ledger)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5152" y="51114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4336" y="511149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511149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99432" y="5317236"/>
            <a:ext cx="37856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45152" y="531723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74336" y="5317236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0528" y="5317236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Part (Restrict)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45152" y="5522975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74336" y="5522975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PartUnitId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10528" y="5522975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PartUnit (ถ้ามีซีเรียล)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99432" y="5728715"/>
            <a:ext cx="378561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74336" y="5728715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Type / Qty / Cond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0528" y="5728715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ประเภท/จำนวน/สภาพ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74336" y="5934455"/>
            <a:ext cx="1536192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From/ToLocationId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0528" y="5934455"/>
            <a:ext cx="1865376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คลังออก/เข้า · User · Time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44000" y="2880360"/>
            <a:ext cx="2651760" cy="918972"/>
          </a:xfrm>
          <a:prstGeom prst="roundRect">
            <a:avLst/>
          </a:prstGeom>
          <a:solidFill>
            <a:srgbClr val="E3ECFD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44000" y="2880360"/>
            <a:ext cx="2651760" cy="2834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35440" y="2898648"/>
            <a:ext cx="25146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17152" y="319125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46336" y="3191256"/>
            <a:ext cx="106070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07040" y="3191256"/>
            <a:ext cx="115214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รหัสคลัง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71432" y="3396996"/>
            <a:ext cx="25968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17152" y="33969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46336" y="3396996"/>
            <a:ext cx="106070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Code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07040" y="3396996"/>
            <a:ext cx="115214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46336" y="3602736"/>
            <a:ext cx="106070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07040" y="3602736"/>
            <a:ext cx="115214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ชื่อคลัง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017520" y="3214115"/>
            <a:ext cx="1005840" cy="0"/>
          </a:xfrm>
          <a:prstGeom prst="line">
            <a:avLst/>
          </a:prstGeom>
          <a:ln w="22225">
            <a:solidFill>
              <a:srgbClr val="5A6778"/>
            </a:solidFill>
            <a:head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023360" y="1579626"/>
            <a:ext cx="0" cy="3886200"/>
          </a:xfrm>
          <a:prstGeom prst="line">
            <a:avLst/>
          </a:prstGeom>
          <a:ln w="22225">
            <a:solidFill>
              <a:srgbClr val="5A67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023360" y="1579626"/>
            <a:ext cx="548640" cy="0"/>
          </a:xfrm>
          <a:prstGeom prst="line">
            <a:avLst/>
          </a:prstGeom>
          <a:ln w="22225">
            <a:solidFill>
              <a:srgbClr val="5A677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023360" y="3545586"/>
            <a:ext cx="548640" cy="0"/>
          </a:xfrm>
          <a:prstGeom prst="line">
            <a:avLst/>
          </a:prstGeom>
          <a:ln w="22225">
            <a:solidFill>
              <a:srgbClr val="5A677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023360" y="5465826"/>
            <a:ext cx="548640" cy="0"/>
          </a:xfrm>
          <a:prstGeom prst="line">
            <a:avLst/>
          </a:prstGeom>
          <a:ln w="22225">
            <a:solidFill>
              <a:srgbClr val="5A6778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492240" y="4210812"/>
            <a:ext cx="0" cy="589788"/>
          </a:xfrm>
          <a:prstGeom prst="line">
            <a:avLst/>
          </a:prstGeom>
          <a:ln w="22225">
            <a:solidFill>
              <a:srgbClr val="5A6778"/>
            </a:solidFill>
            <a:headEnd type="oval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144000" y="5760720"/>
            <a:ext cx="27432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Location เชื่อม PartStock / PartUnit / StockMovement ผ่านฟิลด์ LocationId (ดูป้าย → Location ในกล่อง)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547104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8" y="6547104"/>
            <a:ext cx="998524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94052" y="6547104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86660" y="6547104"/>
            <a:ext cx="6693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93161" y="6547104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85769" y="6547104"/>
            <a:ext cx="998524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21454" y="6547104"/>
            <a:ext cx="50292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1">
                <a:solidFill>
                  <a:srgbClr val="5A6778"/>
                </a:solidFill>
                <a:latin typeface="Calibri"/>
              </a:rPr>
              <a:t>ความสัมพันธ์ 1 : N   ●────▶   (วงกลม = ฝั่ง 1 / หัวลูกศร = ฝั่ง 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6868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Database Design —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03504"/>
            <a:ext cx="11430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รับเข้า · เบิก/คืน · โอน · นับสต็อก · ทำลาย   ·   ทุกตารางอ้าง Part ด้วย FK PartId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3566160" cy="1536192"/>
          </a:xfrm>
          <a:prstGeom prst="roundRect">
            <a:avLst/>
          </a:prstGeom>
          <a:solidFill>
            <a:srgbClr val="FBF1E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3566160" cy="2834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32688"/>
            <a:ext cx="3429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GoodsReceipt  (ใบรับเข้า)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2252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22529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22529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1431036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43103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ReceiptNo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43103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เลขใบรับ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163677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63677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GRG/LocalVendor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" y="1842516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84251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184251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VendorId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184251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Vendor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204825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04825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04825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Location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" y="2253996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225399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HandlingCost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25399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ค่าจัดการ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657600"/>
            <a:ext cx="3566160" cy="1330452"/>
          </a:xfrm>
          <a:prstGeom prst="roundRect">
            <a:avLst/>
          </a:prstGeom>
          <a:solidFill>
            <a:srgbClr val="FBF1E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657600"/>
            <a:ext cx="3566160" cy="2834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675887"/>
            <a:ext cx="3429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GoodsReceiptLine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9684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96849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96849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" y="4174235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4174235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17423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GoodsReceiptId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417423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GoodsReceipt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379975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37997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437997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Part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" y="4585715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58571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Qty / Condition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458571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จำนวน / สภาพ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" y="479145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79145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ซีเรียล → สร้าง PartUnit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914400"/>
            <a:ext cx="3566160" cy="1330452"/>
          </a:xfrm>
          <a:prstGeom prst="roundRect">
            <a:avLst/>
          </a:prstGeom>
          <a:solidFill>
            <a:srgbClr val="EAF6F0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97680" y="914400"/>
            <a:ext cx="3566160" cy="2834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932688"/>
            <a:ext cx="3429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Ticket  (ใบเบิก)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12252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0016" y="122529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TicketId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122529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25112" y="1431036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0016" y="143103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TechUser...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143103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ข้อมูลช่าง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0016" y="163677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Req/ApprovedPartNo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163677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อะไหล่ขอ/อนุมัติ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25112" y="1842516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00016" y="184251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184251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Pending/Approved/..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0016" y="204825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AttachmentPath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204825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รูปอาการเสีย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97680" y="3657600"/>
            <a:ext cx="3566160" cy="1330452"/>
          </a:xfrm>
          <a:prstGeom prst="roundRect">
            <a:avLst/>
          </a:prstGeom>
          <a:solidFill>
            <a:srgbClr val="EAF6F0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97680" y="3657600"/>
            <a:ext cx="3566160" cy="2834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0" y="3675887"/>
            <a:ext cx="3429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ReturnRequest  (คืน)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0832" y="39684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00016" y="396849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396849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25112" y="4174235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70832" y="4174235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0016" y="417423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TicketId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0" y="417423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Ticket (บังคับ)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70832" y="4379975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0016" y="437997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26480" y="437997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Part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25112" y="4585715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00016" y="458571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Condition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26480" y="458571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สภาพที่คืน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00016" y="479145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Location From/To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0" y="479145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ต้นทาง/ปลายทาง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29600" y="914400"/>
            <a:ext cx="3566160" cy="1124712"/>
          </a:xfrm>
          <a:prstGeom prst="roundRect">
            <a:avLst/>
          </a:prstGeom>
          <a:solidFill>
            <a:srgbClr val="FBF1E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229600" y="914400"/>
            <a:ext cx="3566160" cy="2834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932688"/>
            <a:ext cx="3429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StockCount  (นับสต็อก)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02752" y="12252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31936" y="122529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58400" y="122529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57031" y="1431036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31936" y="143103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CountType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0" y="143103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Cycle/Annual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31936" y="163677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Period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0" y="163677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งวด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1" y="1842516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31936" y="184251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Status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58400" y="184251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Draft/../Completed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229600" y="3657600"/>
            <a:ext cx="3566160" cy="1330452"/>
          </a:xfrm>
          <a:prstGeom prst="roundRect">
            <a:avLst/>
          </a:prstGeom>
          <a:solidFill>
            <a:srgbClr val="FBF1E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657600"/>
            <a:ext cx="3566160" cy="2834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321040" y="3675887"/>
            <a:ext cx="34290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StockCountLine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02752" y="3968496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31936" y="3968496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58400" y="3968496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รหัส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57031" y="4174235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302752" y="4174235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31936" y="417423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StockCountId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400" y="417423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StockCount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02752" y="4379975"/>
            <a:ext cx="292608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31936" y="437997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058400" y="437997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→ Part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57031" y="4585715"/>
            <a:ext cx="3511296" cy="2057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631936" y="458571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System/PhysicalQty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58400" y="458571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ยอดระบบ/นับจริง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31936" y="4791455"/>
            <a:ext cx="142646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onsolas"/>
              </a:rPr>
              <a:t>Variance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58400" y="4791455"/>
            <a:ext cx="1700784" cy="2057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ผลต่าง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2148840" y="2450592"/>
            <a:ext cx="0" cy="1207008"/>
          </a:xfrm>
          <a:prstGeom prst="line">
            <a:avLst/>
          </a:prstGeom>
          <a:ln w="22225">
            <a:solidFill>
              <a:srgbClr val="5A6778"/>
            </a:solidFill>
            <a:headEnd type="oval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080760" y="2244852"/>
            <a:ext cx="0" cy="1412748"/>
          </a:xfrm>
          <a:prstGeom prst="line">
            <a:avLst/>
          </a:prstGeom>
          <a:ln w="22225">
            <a:solidFill>
              <a:srgbClr val="5A6778"/>
            </a:solidFill>
            <a:headEnd type="oval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012680" y="2039112"/>
            <a:ext cx="0" cy="1618488"/>
          </a:xfrm>
          <a:prstGeom prst="line">
            <a:avLst/>
          </a:prstGeom>
          <a:ln w="22225">
            <a:solidFill>
              <a:srgbClr val="5A6778"/>
            </a:solidFill>
            <a:headEnd type="oval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65760" y="6547104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8368" y="6547104"/>
            <a:ext cx="998524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794052" y="6547104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86660" y="6547104"/>
            <a:ext cx="6693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893161" y="6547104"/>
            <a:ext cx="3200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185769" y="6547104"/>
            <a:ext cx="998524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321454" y="6547104"/>
            <a:ext cx="50292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0" i="1">
                <a:solidFill>
                  <a:srgbClr val="5A6778"/>
                </a:solidFill>
                <a:latin typeface="Calibri"/>
              </a:rPr>
              <a:t>ความสัมพันธ์ 1 : N   ●────▶   (วงกลม = ฝั่ง 1 / หัวลูกศร = ฝั่ง N)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65760" y="6080760"/>
            <a:ext cx="1143000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StockTransfer และ DisposalRequest (ไม่แสดงในผังนี้) ก็อ้าง Part ด้วย FK PartId เช่นกัน — ดู Data Dictionary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